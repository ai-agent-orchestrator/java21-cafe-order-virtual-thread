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11099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프로젝트의 기술적 중심은 Java 21입니다.
저는 가상 스레드를 성능 튜닝 기술로 깊게 다루기보다는, Java 21 백엔드에서 I/O 중심 작업을 어떻게 더 가볍게 처리할 수 있는지 이해하는 데 초점을 두었습니다.
이번 프로젝트는 JDBC와 MySQL을 사용하는 데이터 연동 프로젝트이기 때문에, DB 조회나 저장 과정에서 응답을 기다리는 I/O 상황이 발생할 수 있습니다.
그래서 Java 21의 가상 스레드가 이런 백엔드 구조와 어떻게 연결되는지 개념과 작은 실험으로 확인하는 것을 목표로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배운 Stack과 Heap을 요리로 비유하면, Stack은 지금 요리 중인 작업대이고 Heap은 음식과 재료를 보관하는 창고입니다.
Stack에는 현재 실행 중인 메소드나 지역 변수처럼 지금 작업에 필요한 정보가 사용됩니다. Heap에는 new로 생성된 객체 등이 저장됩니다.
여기서 중요한 것은 Java 17은 Stack이고 Java 21은 Heap이라는 뜻이 아니라는 점입니다. Stack과 Heap은 모두 JVM 메모리 구조를 설명하기 위한 개념입니다.
이제 이 비유를 이용해 Platform Thread와 Virtual Thread가 DB I/O 대기 상황에서 어떻게 다른지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기존 Platform Thread 방식입니다. DB에 조회나 저장 요청을 보낸 뒤 응답을 기다리는 동안 CPU 계산을 계속하는 것은 아니지만, 해당 Platform Thread는 그 작업에 묶여 있게 됩니다.
오른쪽은 Java 21의 Virtual Thread 방식입니다. Virtual Thread가 DB I/O처럼 대기 가능한 작업을 만나면 실행이 중단되고 Carrier Thread에서 내려올 수 있습니다. 그러면 Carrier Thread는 다른 Virtual Thread를 실행할 수 있습니다.
DB 응답이 도착하면 해당 Virtual Thread는 다시 실행 가능한 상태가 되고 JVM에 의해 다시 실행됩니다.
핵심은 DB 자체가 빨라지는 것이 아니라, I/O 대기가 많은 동시 작업에서 실행 자원을 더 효율적으로 활용할 수 있다는 점입니다. 그림의 Heap 표현은 이해를 위한 단순화된 비유입니다.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이 가상 스레드가 제 프로젝트와 어떤 관련이 있는지 설명드리겠습니다.
본 프로젝트는 Java 21과 JDBC, MySQL을 사용합니다. 주문을 등록하거나 조회할 때 Java 코드가 JDBC를 통해 MySQL에 요청하고, 그 과정에서 DB 응답을 기다리는 I/O 대기가 발생할 수 있습니다.
그래서 여러 주문 처리 작업을 만들고 각각을 Virtual Thread로 실행하는 작은 실험을 구현합니다. DB 작업 전후의 스레드 이름과 시작·종료 시점을 콘솔 로그로 확인해 여러 작업이 어떤 흐름으로 실행되는지 확인하는 것이 목표입니다.
여기서 목적은 Virtual Thread를 사용해서 DB 자체를 빠르게 만드는 것이 아니라, I/O 대기가 존재하는 백엔드에서 여러 동시 작업을 어떤 방식으로 처리할 수 있는지를 이해하는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프로젝트에서는 기존에 만든 카페 주문 관리 시스템을 완전히 새로 만들지 않았습니다.</a:t>
            </a:r>
          </a:p>
          <a:p>
            <a:r>
              <a:t>대신 기존 구조에서 저장을 담당하던 OrderRepository의 내부 구현을 변경했습니다.</a:t>
            </a:r>
          </a:p>
          <a:p>
            <a:endParaRPr/>
          </a:p>
          <a:p>
            <a:r>
              <a:t>기존에는 주문 데이터를 Java 메모리의 ArrayList에 저장했습니다.</a:t>
            </a:r>
          </a:p>
          <a:p>
            <a:r>
              <a:t>이 방식은 구현은 단순하지만, 프로그램을 종료하면 데이터가 사라지는 한계가 있습니다.</a:t>
            </a:r>
          </a:p>
          <a:p>
            <a:endParaRPr/>
          </a:p>
          <a:p>
            <a:r>
              <a:t>변경 후에는 OrderRepository가 DAO 역할을 하도록 수정하고, JDBC를 사용해 MySQL에 주문 데이터를 저장하도록 했습니다.</a:t>
            </a:r>
          </a:p>
          <a:p>
            <a:r>
              <a:t>주문 등록 시에는 cafe_order 테이블에 주문 기본 정보를 저장하고, order_item 테이블에 주문 상세 정보를 저장합니다.</a:t>
            </a:r>
          </a:p>
          <a:p>
            <a:endParaRPr/>
          </a:p>
          <a:p>
            <a:r>
              <a:t>조회, 수정, 삭제도 기존에는 Java 컬렉션에서 처리했지만, 변경 후에는 SQL의 SELECT, UPDATE, DELETE를 사용합니다.</a:t>
            </a:r>
          </a:p>
          <a:p>
            <a:r>
              <a:t>이 변경을 통해 프로그램 종료 후에도 데이터가 DB에 유지되고, Java와 MySQL이 실제로 연동되는 CRUD 구조가 되었습니다.</a:t>
            </a:r>
          </a:p>
          <a:p>
            <a:endParaRPr/>
          </a:p>
          <a:p>
            <a:r>
              <a:t>마지막 강조 문장:</a:t>
            </a:r>
          </a:p>
          <a:p>
            <a:r>
              <a:t>기존 구조를 갈아엎은 것이 아니라, 저장 계층만 ArrayList에서 JDBC/MySQL로 교체했다.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557C0"/>
          </a:solidFill>
          <a:ln w="12700">
            <a:solidFill>
              <a:srgbClr val="1557C0"/>
            </a:solidFill>
            <a:prstDash val="solid"/>
          </a:ln>
        </p:spPr>
        <p:txBody>
          <a:bodyPr/>
          <a:lstStyle/>
          <a:p>
            <a:endParaRPr lang="ko-KR" altLang="en-US"/>
          </a:p>
        </p:txBody>
      </p:sp>
      <p:sp>
        <p:nvSpPr>
          <p:cNvPr id="3" name="Text 1"/>
          <p:cNvSpPr/>
          <p:nvPr/>
        </p:nvSpPr>
        <p:spPr>
          <a:xfrm>
            <a:off x="9464040" y="6537960"/>
            <a:ext cx="2240280" cy="164592"/>
          </a:xfrm>
          <a:prstGeom prst="rect">
            <a:avLst/>
          </a:prstGeom>
          <a:noFill/>
          <a:ln/>
        </p:spPr>
        <p:txBody>
          <a:bodyPr wrap="square" lIns="0" tIns="0" rIns="0" bIns="0" rtlCol="0" anchor="ctr"/>
          <a:lstStyle/>
          <a:p>
            <a:pPr marL="0" indent="0" algn="r">
              <a:buNone/>
            </a:pPr>
            <a:r>
              <a:rPr lang="en-US" sz="800" dirty="0">
                <a:solidFill>
                  <a:srgbClr val="8793A5"/>
                </a:solidFill>
                <a:latin typeface="Arial" pitchFamily="34" charset="0"/>
                <a:ea typeface="Arial" pitchFamily="34" charset="-122"/>
                <a:cs typeface="Arial" pitchFamily="34" charset="-120"/>
              </a:rPr>
              <a:t>JAVA 21 · VIRTUAL THREAD</a:t>
            </a:r>
            <a:endParaRPr lang="en-US" sz="800" dirty="0"/>
          </a:p>
        </p:txBody>
      </p:sp>
      <p:sp>
        <p:nvSpPr>
          <p:cNvPr id="25"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84048"/>
            <a:ext cx="502920" cy="292608"/>
          </a:xfrm>
          <a:prstGeom prst="rect">
            <a:avLst/>
          </a:prstGeom>
          <a:noFill/>
          <a:ln/>
        </p:spPr>
        <p:txBody>
          <a:bodyPr wrap="square" lIns="0" tIns="0" rIns="0" bIns="0" rtlCol="0" anchor="ctr"/>
          <a:lstStyle/>
          <a:p>
            <a:pPr marL="0" indent="0">
              <a:buNone/>
            </a:pPr>
            <a:r>
              <a:rPr lang="en-US" sz="1400" b="1" dirty="0">
                <a:solidFill>
                  <a:srgbClr val="1557C0"/>
                </a:solidFill>
              </a:rPr>
              <a:t>01</a:t>
            </a:r>
            <a:endParaRPr lang="en-US" sz="1400" dirty="0"/>
          </a:p>
        </p:txBody>
      </p:sp>
      <p:sp>
        <p:nvSpPr>
          <p:cNvPr id="3" name="Text 1"/>
          <p:cNvSpPr/>
          <p:nvPr/>
        </p:nvSpPr>
        <p:spPr>
          <a:xfrm>
            <a:off x="1024128" y="292608"/>
            <a:ext cx="10332720" cy="438912"/>
          </a:xfrm>
          <a:prstGeom prst="rect">
            <a:avLst/>
          </a:prstGeom>
          <a:noFill/>
          <a:ln/>
        </p:spPr>
        <p:txBody>
          <a:bodyPr wrap="square" lIns="0" tIns="0" rIns="0" bIns="0" rtlCol="0" anchor="ctr"/>
          <a:lstStyle/>
          <a:p>
            <a:pPr marL="0" indent="0">
              <a:buNone/>
            </a:pPr>
            <a:r>
              <a:rPr lang="en-US" sz="2500" b="1" dirty="0">
                <a:solidFill>
                  <a:srgbClr val="123B7A"/>
                </a:solidFill>
              </a:rPr>
              <a:t>왜 Java 21 가상 스레드를 다루는가</a:t>
            </a:r>
            <a:endParaRPr lang="en-US" sz="2500" dirty="0"/>
          </a:p>
        </p:txBody>
      </p:sp>
      <p:sp>
        <p:nvSpPr>
          <p:cNvPr id="4" name="Text 2"/>
          <p:cNvSpPr/>
          <p:nvPr/>
        </p:nvSpPr>
        <p:spPr>
          <a:xfrm>
            <a:off x="1033272" y="758952"/>
            <a:ext cx="10241280" cy="256032"/>
          </a:xfrm>
          <a:prstGeom prst="rect">
            <a:avLst/>
          </a:prstGeom>
          <a:noFill/>
          <a:ln/>
        </p:spPr>
        <p:txBody>
          <a:bodyPr wrap="square" lIns="0" tIns="0" rIns="0" bIns="0" rtlCol="0" anchor="ctr"/>
          <a:lstStyle/>
          <a:p>
            <a:pPr marL="0" indent="0">
              <a:buNone/>
            </a:pPr>
            <a:r>
              <a:rPr lang="en-US" sz="1150" dirty="0">
                <a:solidFill>
                  <a:srgbClr val="52647A"/>
                </a:solidFill>
              </a:rPr>
              <a:t>성능 튜닝 자체보다 I/O 중심 백엔드의 동시성 구조를 이해하는 데 초점</a:t>
            </a:r>
            <a:endParaRPr lang="en-US" sz="1150" dirty="0"/>
          </a:p>
        </p:txBody>
      </p:sp>
      <p:sp>
        <p:nvSpPr>
          <p:cNvPr id="5" name="Text 3"/>
          <p:cNvSpPr/>
          <p:nvPr/>
        </p:nvSpPr>
        <p:spPr>
          <a:xfrm>
            <a:off x="658368" y="1234440"/>
            <a:ext cx="5120640" cy="384048"/>
          </a:xfrm>
          <a:prstGeom prst="rect">
            <a:avLst/>
          </a:prstGeom>
          <a:noFill/>
          <a:ln/>
        </p:spPr>
        <p:txBody>
          <a:bodyPr wrap="square" lIns="0" tIns="0" rIns="0" bIns="0" rtlCol="0" anchor="ctr"/>
          <a:lstStyle/>
          <a:p>
            <a:pPr marL="0" indent="0">
              <a:buNone/>
            </a:pPr>
            <a:r>
              <a:rPr lang="en-US" sz="2100" b="1" dirty="0">
                <a:solidFill>
                  <a:srgbClr val="17243A"/>
                </a:solidFill>
              </a:rPr>
              <a:t>본 프로젝트의 기술적 중심은 Java 21입니다.</a:t>
            </a:r>
            <a:endParaRPr lang="en-US" sz="2100" dirty="0"/>
          </a:p>
        </p:txBody>
      </p:sp>
      <p:sp>
        <p:nvSpPr>
          <p:cNvPr id="6" name="Text 4"/>
          <p:cNvSpPr/>
          <p:nvPr/>
        </p:nvSpPr>
        <p:spPr>
          <a:xfrm>
            <a:off x="658368" y="1783080"/>
            <a:ext cx="5166360" cy="1965960"/>
          </a:xfrm>
          <a:prstGeom prst="rect">
            <a:avLst/>
          </a:prstGeom>
          <a:noFill/>
          <a:ln/>
        </p:spPr>
        <p:txBody>
          <a:bodyPr wrap="square" lIns="381" tIns="381" rIns="381" bIns="381" rtlCol="0" anchor="ctr"/>
          <a:lstStyle/>
          <a:p>
            <a:pPr marL="0" indent="0">
              <a:buNone/>
            </a:pPr>
            <a:r>
              <a:rPr lang="en-US" sz="1500" dirty="0">
                <a:solidFill>
                  <a:srgbClr val="52647A"/>
                </a:solidFill>
              </a:rPr>
              <a:t>JDBC와 MySQL을 사용하는 백엔드에서는 DB 조회·저장 과정에서 응답을 기다리는 I/O 시간이 생길 수 있습니다.</a:t>
            </a:r>
            <a:endParaRPr lang="en-US" sz="1500" dirty="0"/>
          </a:p>
          <a:p>
            <a:pPr marL="0" indent="0">
              <a:buNone/>
            </a:pPr>
            <a:endParaRPr lang="en-US" sz="1500" dirty="0"/>
          </a:p>
          <a:p>
            <a:pPr marL="0" indent="0">
              <a:buNone/>
            </a:pPr>
            <a:r>
              <a:rPr lang="en-US" sz="1500" dirty="0">
                <a:solidFill>
                  <a:srgbClr val="52647A"/>
                </a:solidFill>
              </a:rPr>
              <a:t>가상 스레드를 통해 이런 대기 중심 작업을 더 가볍게 표현하고 처리하는 구조를 학습·실험했습니다.</a:t>
            </a:r>
            <a:endParaRPr lang="en-US" sz="1500" dirty="0"/>
          </a:p>
        </p:txBody>
      </p:sp>
      <p:sp>
        <p:nvSpPr>
          <p:cNvPr id="7" name="Shape 5"/>
          <p:cNvSpPr/>
          <p:nvPr/>
        </p:nvSpPr>
        <p:spPr>
          <a:xfrm>
            <a:off x="6400800" y="1874520"/>
            <a:ext cx="1143000" cy="960120"/>
          </a:xfrm>
          <a:prstGeom prst="roundRect">
            <a:avLst>
              <a:gd name="adj" fmla="val 7619"/>
            </a:avLst>
          </a:prstGeom>
          <a:solidFill>
            <a:srgbClr val="EAF2FF"/>
          </a:solidFill>
          <a:ln w="19050">
            <a:solidFill>
              <a:srgbClr val="1557C0"/>
            </a:solidFill>
            <a:prstDash val="solid"/>
          </a:ln>
        </p:spPr>
        <p:txBody>
          <a:bodyPr/>
          <a:lstStyle/>
          <a:p>
            <a:endParaRPr lang="ko-KR" altLang="en-US"/>
          </a:p>
        </p:txBody>
      </p:sp>
      <p:sp>
        <p:nvSpPr>
          <p:cNvPr id="8" name="Text 6"/>
          <p:cNvSpPr/>
          <p:nvPr/>
        </p:nvSpPr>
        <p:spPr>
          <a:xfrm>
            <a:off x="6473952" y="2148840"/>
            <a:ext cx="996696" cy="384048"/>
          </a:xfrm>
          <a:prstGeom prst="rect">
            <a:avLst/>
          </a:prstGeom>
          <a:noFill/>
          <a:ln/>
        </p:spPr>
        <p:txBody>
          <a:bodyPr wrap="square" lIns="0" tIns="0" rIns="0" bIns="0" rtlCol="0" anchor="ctr"/>
          <a:lstStyle/>
          <a:p>
            <a:pPr marL="0" indent="0" algn="ctr">
              <a:buNone/>
            </a:pPr>
            <a:r>
              <a:rPr lang="en-US" sz="1300" b="1" dirty="0">
                <a:solidFill>
                  <a:srgbClr val="123B7A"/>
                </a:solidFill>
              </a:rPr>
              <a:t>Java 21</a:t>
            </a:r>
            <a:endParaRPr lang="en-US" sz="1300" dirty="0"/>
          </a:p>
          <a:p>
            <a:pPr marL="0" indent="0" algn="ctr">
              <a:buNone/>
            </a:pPr>
            <a:r>
              <a:rPr lang="en-US" sz="1300" b="1" dirty="0">
                <a:solidFill>
                  <a:srgbClr val="123B7A"/>
                </a:solidFill>
              </a:rPr>
              <a:t>Backend</a:t>
            </a:r>
            <a:endParaRPr lang="en-US" sz="1300" dirty="0"/>
          </a:p>
        </p:txBody>
      </p:sp>
      <p:sp>
        <p:nvSpPr>
          <p:cNvPr id="9" name="Shape 7"/>
          <p:cNvSpPr/>
          <p:nvPr/>
        </p:nvSpPr>
        <p:spPr>
          <a:xfrm>
            <a:off x="7562088" y="2350008"/>
            <a:ext cx="118872" cy="0"/>
          </a:xfrm>
          <a:prstGeom prst="line">
            <a:avLst/>
          </a:prstGeom>
          <a:noFill/>
          <a:ln w="27940">
            <a:solidFill>
              <a:srgbClr val="1557C0"/>
            </a:solidFill>
            <a:prstDash val="solid"/>
            <a:headEnd type="none"/>
            <a:tailEnd type="triangle"/>
          </a:ln>
        </p:spPr>
        <p:txBody>
          <a:bodyPr/>
          <a:lstStyle/>
          <a:p>
            <a:endParaRPr lang="ko-KR" altLang="en-US"/>
          </a:p>
        </p:txBody>
      </p:sp>
      <p:sp>
        <p:nvSpPr>
          <p:cNvPr id="10" name="Shape 8"/>
          <p:cNvSpPr/>
          <p:nvPr/>
        </p:nvSpPr>
        <p:spPr>
          <a:xfrm>
            <a:off x="7726680" y="1874520"/>
            <a:ext cx="1143000" cy="960120"/>
          </a:xfrm>
          <a:prstGeom prst="roundRect">
            <a:avLst>
              <a:gd name="adj" fmla="val 7619"/>
            </a:avLst>
          </a:prstGeom>
          <a:solidFill>
            <a:srgbClr val="EAF2FF"/>
          </a:solidFill>
          <a:ln w="19050">
            <a:solidFill>
              <a:srgbClr val="1557C0"/>
            </a:solidFill>
            <a:prstDash val="solid"/>
          </a:ln>
        </p:spPr>
        <p:txBody>
          <a:bodyPr/>
          <a:lstStyle/>
          <a:p>
            <a:endParaRPr lang="ko-KR" altLang="en-US"/>
          </a:p>
        </p:txBody>
      </p:sp>
      <p:sp>
        <p:nvSpPr>
          <p:cNvPr id="11" name="Text 9"/>
          <p:cNvSpPr/>
          <p:nvPr/>
        </p:nvSpPr>
        <p:spPr>
          <a:xfrm>
            <a:off x="7799832" y="2148840"/>
            <a:ext cx="996696" cy="384048"/>
          </a:xfrm>
          <a:prstGeom prst="rect">
            <a:avLst/>
          </a:prstGeom>
          <a:noFill/>
          <a:ln/>
        </p:spPr>
        <p:txBody>
          <a:bodyPr wrap="square" lIns="0" tIns="0" rIns="0" bIns="0" rtlCol="0" anchor="ctr"/>
          <a:lstStyle/>
          <a:p>
            <a:pPr marL="0" indent="0" algn="ctr">
              <a:buNone/>
            </a:pPr>
            <a:r>
              <a:rPr lang="en-US" sz="1300" b="1" dirty="0">
                <a:solidFill>
                  <a:srgbClr val="123B7A"/>
                </a:solidFill>
              </a:rPr>
              <a:t>JDBC +</a:t>
            </a:r>
            <a:endParaRPr lang="en-US" sz="1300" dirty="0"/>
          </a:p>
          <a:p>
            <a:pPr marL="0" indent="0" algn="ctr">
              <a:buNone/>
            </a:pPr>
            <a:r>
              <a:rPr lang="en-US" sz="1300" b="1" dirty="0">
                <a:solidFill>
                  <a:srgbClr val="123B7A"/>
                </a:solidFill>
              </a:rPr>
              <a:t>MySQL</a:t>
            </a:r>
            <a:endParaRPr lang="en-US" sz="1300" dirty="0"/>
          </a:p>
        </p:txBody>
      </p:sp>
      <p:sp>
        <p:nvSpPr>
          <p:cNvPr id="12" name="Shape 10"/>
          <p:cNvSpPr/>
          <p:nvPr/>
        </p:nvSpPr>
        <p:spPr>
          <a:xfrm>
            <a:off x="8887968" y="2350008"/>
            <a:ext cx="118872" cy="0"/>
          </a:xfrm>
          <a:prstGeom prst="line">
            <a:avLst/>
          </a:prstGeom>
          <a:noFill/>
          <a:ln w="27940">
            <a:solidFill>
              <a:srgbClr val="1557C0"/>
            </a:solidFill>
            <a:prstDash val="solid"/>
            <a:headEnd type="none"/>
            <a:tailEnd type="triangle"/>
          </a:ln>
        </p:spPr>
        <p:txBody>
          <a:bodyPr/>
          <a:lstStyle/>
          <a:p>
            <a:endParaRPr lang="ko-KR" altLang="en-US"/>
          </a:p>
        </p:txBody>
      </p:sp>
      <p:sp>
        <p:nvSpPr>
          <p:cNvPr id="13" name="Shape 11"/>
          <p:cNvSpPr/>
          <p:nvPr/>
        </p:nvSpPr>
        <p:spPr>
          <a:xfrm>
            <a:off x="9052560" y="1874520"/>
            <a:ext cx="1143000" cy="960120"/>
          </a:xfrm>
          <a:prstGeom prst="roundRect">
            <a:avLst>
              <a:gd name="adj" fmla="val 7619"/>
            </a:avLst>
          </a:prstGeom>
          <a:solidFill>
            <a:srgbClr val="EAF2FF"/>
          </a:solidFill>
          <a:ln w="19050">
            <a:solidFill>
              <a:srgbClr val="1557C0"/>
            </a:solidFill>
            <a:prstDash val="solid"/>
          </a:ln>
        </p:spPr>
        <p:txBody>
          <a:bodyPr/>
          <a:lstStyle/>
          <a:p>
            <a:endParaRPr lang="ko-KR" altLang="en-US"/>
          </a:p>
        </p:txBody>
      </p:sp>
      <p:sp>
        <p:nvSpPr>
          <p:cNvPr id="14" name="Text 12"/>
          <p:cNvSpPr/>
          <p:nvPr/>
        </p:nvSpPr>
        <p:spPr>
          <a:xfrm>
            <a:off x="9125712" y="2148840"/>
            <a:ext cx="996696" cy="384048"/>
          </a:xfrm>
          <a:prstGeom prst="rect">
            <a:avLst/>
          </a:prstGeom>
          <a:noFill/>
          <a:ln/>
        </p:spPr>
        <p:txBody>
          <a:bodyPr wrap="square" lIns="0" tIns="0" rIns="0" bIns="0" rtlCol="0" anchor="ctr"/>
          <a:lstStyle/>
          <a:p>
            <a:pPr marL="0" indent="0" algn="ctr">
              <a:buNone/>
            </a:pPr>
            <a:r>
              <a:rPr lang="en-US" sz="1300" b="1" dirty="0">
                <a:solidFill>
                  <a:srgbClr val="123B7A"/>
                </a:solidFill>
              </a:rPr>
              <a:t>DB I/O</a:t>
            </a:r>
            <a:endParaRPr lang="en-US" sz="1300" dirty="0"/>
          </a:p>
          <a:p>
            <a:pPr marL="0" indent="0" algn="ctr">
              <a:buNone/>
            </a:pPr>
            <a:r>
              <a:rPr lang="en-US" sz="1300" b="1" dirty="0">
                <a:solidFill>
                  <a:srgbClr val="123B7A"/>
                </a:solidFill>
              </a:rPr>
              <a:t>대기</a:t>
            </a:r>
            <a:endParaRPr lang="en-US" sz="1300" dirty="0"/>
          </a:p>
        </p:txBody>
      </p:sp>
      <p:sp>
        <p:nvSpPr>
          <p:cNvPr id="15" name="Shape 13"/>
          <p:cNvSpPr/>
          <p:nvPr/>
        </p:nvSpPr>
        <p:spPr>
          <a:xfrm>
            <a:off x="10213848" y="2350008"/>
            <a:ext cx="118872" cy="0"/>
          </a:xfrm>
          <a:prstGeom prst="line">
            <a:avLst/>
          </a:prstGeom>
          <a:noFill/>
          <a:ln w="27940">
            <a:solidFill>
              <a:srgbClr val="1557C0"/>
            </a:solidFill>
            <a:prstDash val="solid"/>
            <a:headEnd type="none"/>
            <a:tailEnd type="triangle"/>
          </a:ln>
        </p:spPr>
        <p:txBody>
          <a:bodyPr/>
          <a:lstStyle/>
          <a:p>
            <a:endParaRPr lang="ko-KR" altLang="en-US"/>
          </a:p>
        </p:txBody>
      </p:sp>
      <p:sp>
        <p:nvSpPr>
          <p:cNvPr id="16" name="Shape 14"/>
          <p:cNvSpPr/>
          <p:nvPr/>
        </p:nvSpPr>
        <p:spPr>
          <a:xfrm>
            <a:off x="10378440" y="1874520"/>
            <a:ext cx="1143000" cy="960120"/>
          </a:xfrm>
          <a:prstGeom prst="roundRect">
            <a:avLst>
              <a:gd name="adj" fmla="val 7619"/>
            </a:avLst>
          </a:prstGeom>
          <a:solidFill>
            <a:srgbClr val="E9F7EF"/>
          </a:solidFill>
          <a:ln w="19050">
            <a:solidFill>
              <a:srgbClr val="12824C"/>
            </a:solidFill>
            <a:prstDash val="solid"/>
          </a:ln>
        </p:spPr>
        <p:txBody>
          <a:bodyPr/>
          <a:lstStyle/>
          <a:p>
            <a:endParaRPr lang="ko-KR" altLang="en-US"/>
          </a:p>
        </p:txBody>
      </p:sp>
      <p:sp>
        <p:nvSpPr>
          <p:cNvPr id="17" name="Text 15"/>
          <p:cNvSpPr/>
          <p:nvPr/>
        </p:nvSpPr>
        <p:spPr>
          <a:xfrm>
            <a:off x="10451592" y="2148840"/>
            <a:ext cx="996696" cy="384048"/>
          </a:xfrm>
          <a:prstGeom prst="rect">
            <a:avLst/>
          </a:prstGeom>
          <a:noFill/>
          <a:ln/>
        </p:spPr>
        <p:txBody>
          <a:bodyPr wrap="square" lIns="0" tIns="0" rIns="0" bIns="0" rtlCol="0" anchor="ctr"/>
          <a:lstStyle/>
          <a:p>
            <a:pPr marL="0" indent="0" algn="ctr">
              <a:buNone/>
            </a:pPr>
            <a:r>
              <a:rPr lang="en-US" sz="1300" b="1" dirty="0">
                <a:solidFill>
                  <a:srgbClr val="12824C"/>
                </a:solidFill>
              </a:rPr>
              <a:t>Virtual Thread</a:t>
            </a:r>
            <a:endParaRPr lang="en-US" sz="1300" dirty="0"/>
          </a:p>
          <a:p>
            <a:pPr marL="0" indent="0" algn="ctr">
              <a:buNone/>
            </a:pPr>
            <a:r>
              <a:rPr lang="en-US" sz="1300" b="1" dirty="0">
                <a:solidFill>
                  <a:srgbClr val="12824C"/>
                </a:solidFill>
              </a:rPr>
              <a:t>학습/실험</a:t>
            </a:r>
            <a:endParaRPr lang="en-US" sz="1300" dirty="0"/>
          </a:p>
        </p:txBody>
      </p:sp>
      <p:sp>
        <p:nvSpPr>
          <p:cNvPr id="18" name="Shape 16"/>
          <p:cNvSpPr/>
          <p:nvPr/>
        </p:nvSpPr>
        <p:spPr>
          <a:xfrm>
            <a:off x="658368" y="5074920"/>
            <a:ext cx="10835640" cy="868680"/>
          </a:xfrm>
          <a:prstGeom prst="roundRect">
            <a:avLst>
              <a:gd name="adj" fmla="val 6316"/>
            </a:avLst>
          </a:prstGeom>
          <a:solidFill>
            <a:srgbClr val="EDF4FF"/>
          </a:solidFill>
          <a:ln w="12700">
            <a:solidFill>
              <a:srgbClr val="BFD2F2"/>
            </a:solidFill>
            <a:prstDash val="solid"/>
          </a:ln>
        </p:spPr>
        <p:txBody>
          <a:bodyPr/>
          <a:lstStyle/>
          <a:p>
            <a:endParaRPr lang="ko-KR" altLang="en-US"/>
          </a:p>
        </p:txBody>
      </p:sp>
      <p:sp>
        <p:nvSpPr>
          <p:cNvPr id="19" name="Text 17"/>
          <p:cNvSpPr/>
          <p:nvPr/>
        </p:nvSpPr>
        <p:spPr>
          <a:xfrm>
            <a:off x="868680" y="5321808"/>
            <a:ext cx="594360" cy="228600"/>
          </a:xfrm>
          <a:prstGeom prst="rect">
            <a:avLst/>
          </a:prstGeom>
          <a:noFill/>
          <a:ln/>
        </p:spPr>
        <p:txBody>
          <a:bodyPr wrap="square" lIns="0" tIns="0" rIns="0" bIns="0" rtlCol="0" anchor="ctr"/>
          <a:lstStyle/>
          <a:p>
            <a:pPr marL="0" indent="0">
              <a:buNone/>
            </a:pPr>
            <a:r>
              <a:rPr lang="en-US" sz="1400" b="1" dirty="0">
                <a:solidFill>
                  <a:srgbClr val="1557C0"/>
                </a:solidFill>
              </a:rPr>
              <a:t>목표</a:t>
            </a:r>
            <a:endParaRPr lang="en-US" sz="1400" dirty="0"/>
          </a:p>
        </p:txBody>
      </p:sp>
      <p:sp>
        <p:nvSpPr>
          <p:cNvPr id="20" name="Text 18"/>
          <p:cNvSpPr/>
          <p:nvPr/>
        </p:nvSpPr>
        <p:spPr>
          <a:xfrm>
            <a:off x="1508760" y="5285232"/>
            <a:ext cx="9464040" cy="292608"/>
          </a:xfrm>
          <a:prstGeom prst="rect">
            <a:avLst/>
          </a:prstGeom>
          <a:noFill/>
          <a:ln/>
        </p:spPr>
        <p:txBody>
          <a:bodyPr wrap="square" lIns="0" tIns="0" rIns="0" bIns="0" rtlCol="0" anchor="ctr"/>
          <a:lstStyle/>
          <a:p>
            <a:pPr marL="0" indent="0">
              <a:buNone/>
            </a:pPr>
            <a:r>
              <a:rPr lang="en-US" sz="1600" b="1" dirty="0">
                <a:solidFill>
                  <a:srgbClr val="17243A"/>
                </a:solidFill>
              </a:rPr>
              <a:t>Java 21 백엔드에서 데이터 연동과 동시성 처리의 기초를 설명할 수 있도록 구현한다.</a:t>
            </a:r>
            <a:endParaRPr lang="en-US" sz="1600" dirty="0"/>
          </a:p>
        </p:txBody>
      </p:sp>
      <p:sp>
        <p:nvSpPr>
          <p:cNvPr id="25"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502920" cy="292608"/>
          </a:xfrm>
          <a:prstGeom prst="rect">
            <a:avLst/>
          </a:prstGeom>
          <a:noFill/>
          <a:ln/>
        </p:spPr>
        <p:txBody>
          <a:bodyPr wrap="square" lIns="0" tIns="0" rIns="0" bIns="0" rtlCol="0" anchor="ctr"/>
          <a:lstStyle/>
          <a:p>
            <a:pPr marL="0" indent="0">
              <a:buNone/>
            </a:pPr>
            <a:r>
              <a:rPr lang="en-US" sz="1400" b="1" dirty="0">
                <a:solidFill>
                  <a:srgbClr val="1557C0"/>
                </a:solidFill>
              </a:rPr>
              <a:t>02</a:t>
            </a:r>
            <a:endParaRPr lang="en-US" sz="1400" dirty="0"/>
          </a:p>
        </p:txBody>
      </p:sp>
      <p:sp>
        <p:nvSpPr>
          <p:cNvPr id="3" name="Text 1"/>
          <p:cNvSpPr/>
          <p:nvPr/>
        </p:nvSpPr>
        <p:spPr>
          <a:xfrm>
            <a:off x="1024128" y="292608"/>
            <a:ext cx="10332720" cy="438912"/>
          </a:xfrm>
          <a:prstGeom prst="rect">
            <a:avLst/>
          </a:prstGeom>
          <a:noFill/>
          <a:ln/>
        </p:spPr>
        <p:txBody>
          <a:bodyPr wrap="square" lIns="0" tIns="0" rIns="0" bIns="0" rtlCol="0" anchor="ctr"/>
          <a:lstStyle/>
          <a:p>
            <a:pPr marL="0" indent="0">
              <a:buNone/>
            </a:pPr>
            <a:r>
              <a:rPr lang="en-US" sz="2500" b="1" dirty="0">
                <a:solidFill>
                  <a:srgbClr val="123B7A"/>
                </a:solidFill>
              </a:rPr>
              <a:t>Stack / Heap을 요리 비유로 이해</a:t>
            </a:r>
            <a:endParaRPr lang="en-US" sz="2500" dirty="0"/>
          </a:p>
        </p:txBody>
      </p:sp>
      <p:sp>
        <p:nvSpPr>
          <p:cNvPr id="4" name="Text 2"/>
          <p:cNvSpPr/>
          <p:nvPr/>
        </p:nvSpPr>
        <p:spPr>
          <a:xfrm>
            <a:off x="1033272" y="758952"/>
            <a:ext cx="10241280" cy="256032"/>
          </a:xfrm>
          <a:prstGeom prst="rect">
            <a:avLst/>
          </a:prstGeom>
          <a:noFill/>
          <a:ln/>
        </p:spPr>
        <p:txBody>
          <a:bodyPr wrap="square" lIns="0" tIns="0" rIns="0" bIns="0" rtlCol="0" anchor="ctr"/>
          <a:lstStyle/>
          <a:p>
            <a:pPr marL="0" indent="0">
              <a:buNone/>
            </a:pPr>
            <a:r>
              <a:rPr lang="en-US" sz="1150" dirty="0">
                <a:solidFill>
                  <a:srgbClr val="52647A"/>
                </a:solidFill>
              </a:rPr>
              <a:t>가상 스레드 설명에 사용할 핵심 용어를 주방 역할에 대응</a:t>
            </a:r>
            <a:endParaRPr lang="en-US" sz="1150" dirty="0"/>
          </a:p>
        </p:txBody>
      </p:sp>
      <p:pic>
        <p:nvPicPr>
          <p:cNvPr id="5" name="Image 0" descr="/mnt/data/907a8202-ca15-431a-bdfd-d532bd47e68e.png"/>
          <p:cNvPicPr>
            <a:picLocks noChangeAspect="1"/>
          </p:cNvPicPr>
          <p:nvPr/>
        </p:nvPicPr>
        <p:blipFill>
          <a:blip r:embed="rId3"/>
          <a:stretch>
            <a:fillRect/>
          </a:stretch>
        </p:blipFill>
        <p:spPr>
          <a:xfrm>
            <a:off x="566928" y="1097280"/>
            <a:ext cx="11064240" cy="4736592"/>
          </a:xfrm>
          <a:prstGeom prst="rect">
            <a:avLst/>
          </a:prstGeom>
        </p:spPr>
      </p:pic>
      <p:sp>
        <p:nvSpPr>
          <p:cNvPr id="6" name="Shape 3"/>
          <p:cNvSpPr/>
          <p:nvPr/>
        </p:nvSpPr>
        <p:spPr>
          <a:xfrm>
            <a:off x="749808" y="5925312"/>
            <a:ext cx="10698480" cy="502920"/>
          </a:xfrm>
          <a:prstGeom prst="roundRect">
            <a:avLst>
              <a:gd name="adj" fmla="val 9091"/>
            </a:avLst>
          </a:prstGeom>
          <a:solidFill>
            <a:srgbClr val="FFF7E8"/>
          </a:solidFill>
          <a:ln w="12700">
            <a:solidFill>
              <a:srgbClr val="F1D69E"/>
            </a:solidFill>
            <a:prstDash val="solid"/>
          </a:ln>
        </p:spPr>
        <p:txBody>
          <a:bodyPr/>
          <a:lstStyle/>
          <a:p>
            <a:endParaRPr lang="ko-KR" altLang="en-US"/>
          </a:p>
        </p:txBody>
      </p:sp>
      <p:sp>
        <p:nvSpPr>
          <p:cNvPr id="7" name="Text 4"/>
          <p:cNvSpPr/>
          <p:nvPr/>
        </p:nvSpPr>
        <p:spPr>
          <a:xfrm>
            <a:off x="914400" y="6080760"/>
            <a:ext cx="10287000" cy="182880"/>
          </a:xfrm>
          <a:prstGeom prst="rect">
            <a:avLst/>
          </a:prstGeom>
          <a:noFill/>
          <a:ln/>
        </p:spPr>
        <p:txBody>
          <a:bodyPr wrap="square" lIns="0" tIns="0" rIns="0" bIns="0" rtlCol="0" anchor="ctr"/>
          <a:lstStyle/>
          <a:p>
            <a:pPr marL="0" indent="0">
              <a:buNone/>
            </a:pPr>
            <a:r>
              <a:rPr lang="en-US" sz="1120" b="1" dirty="0">
                <a:solidFill>
                  <a:srgbClr val="79551D"/>
                </a:solidFill>
              </a:rPr>
              <a:t>주의  Stack/Heap은 Java 17 ↔ Java 21의 차이가 아니라, 둘 다 JVM을 이해하기 위한 메모리 개념입니다.</a:t>
            </a:r>
            <a:endParaRPr lang="en-US" sz="1120" dirty="0"/>
          </a:p>
        </p:txBody>
      </p:sp>
      <p:sp>
        <p:nvSpPr>
          <p:cNvPr id="25"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502920" cy="292608"/>
          </a:xfrm>
          <a:prstGeom prst="rect">
            <a:avLst/>
          </a:prstGeom>
          <a:noFill/>
          <a:ln/>
        </p:spPr>
        <p:txBody>
          <a:bodyPr wrap="square" lIns="0" tIns="0" rIns="0" bIns="0" rtlCol="0" anchor="ctr"/>
          <a:lstStyle/>
          <a:p>
            <a:pPr marL="0" indent="0">
              <a:buNone/>
            </a:pPr>
            <a:r>
              <a:rPr lang="en-US" sz="1400" b="1" dirty="0">
                <a:solidFill>
                  <a:srgbClr val="1557C0"/>
                </a:solidFill>
              </a:rPr>
              <a:t>03</a:t>
            </a:r>
            <a:endParaRPr lang="en-US" sz="1400" dirty="0"/>
          </a:p>
        </p:txBody>
      </p:sp>
      <p:sp>
        <p:nvSpPr>
          <p:cNvPr id="3" name="Text 1"/>
          <p:cNvSpPr/>
          <p:nvPr/>
        </p:nvSpPr>
        <p:spPr>
          <a:xfrm>
            <a:off x="1024128" y="292608"/>
            <a:ext cx="10332720" cy="438912"/>
          </a:xfrm>
          <a:prstGeom prst="rect">
            <a:avLst/>
          </a:prstGeom>
          <a:noFill/>
          <a:ln/>
        </p:spPr>
        <p:txBody>
          <a:bodyPr wrap="square" lIns="0" tIns="0" rIns="0" bIns="0" rtlCol="0" anchor="ctr"/>
          <a:lstStyle/>
          <a:p>
            <a:pPr marL="0" indent="0">
              <a:buNone/>
            </a:pPr>
            <a:r>
              <a:rPr lang="en-US" sz="2500" b="1" dirty="0">
                <a:solidFill>
                  <a:srgbClr val="123B7A"/>
                </a:solidFill>
              </a:rPr>
              <a:t>Platform Thread와 Virtual Thread 비교</a:t>
            </a:r>
            <a:endParaRPr lang="en-US" sz="2500" dirty="0"/>
          </a:p>
        </p:txBody>
      </p:sp>
      <p:sp>
        <p:nvSpPr>
          <p:cNvPr id="4" name="Text 2"/>
          <p:cNvSpPr/>
          <p:nvPr/>
        </p:nvSpPr>
        <p:spPr>
          <a:xfrm>
            <a:off x="1033272" y="758952"/>
            <a:ext cx="10241280" cy="256032"/>
          </a:xfrm>
          <a:prstGeom prst="rect">
            <a:avLst/>
          </a:prstGeom>
          <a:noFill/>
          <a:ln/>
        </p:spPr>
        <p:txBody>
          <a:bodyPr wrap="square" lIns="0" tIns="0" rIns="0" bIns="0" rtlCol="0" anchor="ctr"/>
          <a:lstStyle/>
          <a:p>
            <a:pPr marL="0" indent="0">
              <a:buNone/>
            </a:pPr>
            <a:r>
              <a:rPr lang="en-US" sz="1150" dirty="0">
                <a:solidFill>
                  <a:srgbClr val="52647A"/>
                </a:solidFill>
              </a:rPr>
              <a:t>DB I/O를 기다릴 때 실행 자원을 어떻게 사용하는가</a:t>
            </a:r>
            <a:endParaRPr lang="en-US" sz="1150" dirty="0"/>
          </a:p>
        </p:txBody>
      </p:sp>
      <p:pic>
        <p:nvPicPr>
          <p:cNvPr id="5" name="Image 0" descr="/mnt/data/f4fdc495-5d37-4bdc-b460-d07100211167.png"/>
          <p:cNvPicPr>
            <a:picLocks noChangeAspect="1"/>
          </p:cNvPicPr>
          <p:nvPr/>
        </p:nvPicPr>
        <p:blipFill>
          <a:blip r:embed="rId3"/>
          <a:stretch>
            <a:fillRect/>
          </a:stretch>
        </p:blipFill>
        <p:spPr>
          <a:xfrm>
            <a:off x="347472" y="1024128"/>
            <a:ext cx="11503152" cy="5074920"/>
          </a:xfrm>
          <a:prstGeom prst="rect">
            <a:avLst/>
          </a:prstGeom>
        </p:spPr>
      </p:pic>
      <p:sp>
        <p:nvSpPr>
          <p:cNvPr id="6" name="Shape 3"/>
          <p:cNvSpPr/>
          <p:nvPr/>
        </p:nvSpPr>
        <p:spPr>
          <a:xfrm>
            <a:off x="914400" y="6144768"/>
            <a:ext cx="10332720" cy="347472"/>
          </a:xfrm>
          <a:prstGeom prst="roundRect">
            <a:avLst>
              <a:gd name="adj" fmla="val 10526"/>
            </a:avLst>
          </a:prstGeom>
          <a:solidFill>
            <a:srgbClr val="EAF7F0"/>
          </a:solidFill>
          <a:ln w="12700">
            <a:solidFill>
              <a:srgbClr val="B6DDC8"/>
            </a:solidFill>
            <a:prstDash val="solid"/>
          </a:ln>
        </p:spPr>
        <p:txBody>
          <a:bodyPr/>
          <a:lstStyle/>
          <a:p>
            <a:endParaRPr lang="ko-KR" altLang="en-US"/>
          </a:p>
        </p:txBody>
      </p:sp>
      <p:sp>
        <p:nvSpPr>
          <p:cNvPr id="7" name="Text 4"/>
          <p:cNvSpPr/>
          <p:nvPr/>
        </p:nvSpPr>
        <p:spPr>
          <a:xfrm>
            <a:off x="1051560" y="6236208"/>
            <a:ext cx="10058400" cy="146304"/>
          </a:xfrm>
          <a:prstGeom prst="rect">
            <a:avLst/>
          </a:prstGeom>
          <a:noFill/>
          <a:ln/>
        </p:spPr>
        <p:txBody>
          <a:bodyPr wrap="square" lIns="0" tIns="0" rIns="0" bIns="0" rtlCol="0" anchor="ctr"/>
          <a:lstStyle/>
          <a:p>
            <a:pPr marL="0" indent="0" algn="ctr">
              <a:buNone/>
            </a:pPr>
            <a:r>
              <a:rPr lang="en-US" sz="1080" b="1" dirty="0">
                <a:solidFill>
                  <a:srgbClr val="12824C"/>
                </a:solidFill>
              </a:rPr>
              <a:t>핵심: Virtual Thread는 DB를 빠르게 만드는 기술이 아니라, I/O 대기가 많은 동시 작업을 더 가볍게 다루기 위한 실행 모델입니다.</a:t>
            </a:r>
            <a:endParaRPr lang="en-US" sz="1080" dirty="0"/>
          </a:p>
        </p:txBody>
      </p:sp>
      <p:sp>
        <p:nvSpPr>
          <p:cNvPr id="25"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502920" cy="292608"/>
          </a:xfrm>
          <a:prstGeom prst="rect">
            <a:avLst/>
          </a:prstGeom>
          <a:noFill/>
          <a:ln/>
        </p:spPr>
        <p:txBody>
          <a:bodyPr wrap="square" lIns="0" tIns="0" rIns="0" bIns="0" rtlCol="0" anchor="ctr"/>
          <a:lstStyle/>
          <a:p>
            <a:pPr marL="0" indent="0">
              <a:buNone/>
            </a:pPr>
            <a:r>
              <a:rPr lang="en-US" sz="1400" b="1" dirty="0">
                <a:solidFill>
                  <a:srgbClr val="1557C0"/>
                </a:solidFill>
              </a:rPr>
              <a:t>04</a:t>
            </a:r>
            <a:endParaRPr lang="en-US" sz="1400" dirty="0"/>
          </a:p>
        </p:txBody>
      </p:sp>
      <p:sp>
        <p:nvSpPr>
          <p:cNvPr id="3" name="Text 1"/>
          <p:cNvSpPr/>
          <p:nvPr/>
        </p:nvSpPr>
        <p:spPr>
          <a:xfrm>
            <a:off x="1024128" y="292608"/>
            <a:ext cx="10332720" cy="438912"/>
          </a:xfrm>
          <a:prstGeom prst="rect">
            <a:avLst/>
          </a:prstGeom>
          <a:noFill/>
          <a:ln/>
        </p:spPr>
        <p:txBody>
          <a:bodyPr wrap="square" lIns="0" tIns="0" rIns="0" bIns="0" rtlCol="0" anchor="ctr"/>
          <a:lstStyle/>
          <a:p>
            <a:pPr marL="0" indent="0">
              <a:buNone/>
            </a:pPr>
            <a:r>
              <a:rPr lang="en-US" sz="2500" b="1" dirty="0">
                <a:solidFill>
                  <a:srgbClr val="123B7A"/>
                </a:solidFill>
              </a:rPr>
              <a:t>프로젝트 적용 의미와 실험 목표</a:t>
            </a:r>
            <a:endParaRPr lang="en-US" sz="2500" dirty="0"/>
          </a:p>
        </p:txBody>
      </p:sp>
      <p:sp>
        <p:nvSpPr>
          <p:cNvPr id="4" name="Text 2"/>
          <p:cNvSpPr/>
          <p:nvPr/>
        </p:nvSpPr>
        <p:spPr>
          <a:xfrm>
            <a:off x="1033272" y="758952"/>
            <a:ext cx="10241280" cy="256032"/>
          </a:xfrm>
          <a:prstGeom prst="rect">
            <a:avLst/>
          </a:prstGeom>
          <a:noFill/>
          <a:ln/>
        </p:spPr>
        <p:txBody>
          <a:bodyPr wrap="square" lIns="0" tIns="0" rIns="0" bIns="0" rtlCol="0" anchor="ctr"/>
          <a:lstStyle/>
          <a:p>
            <a:pPr marL="0" indent="0">
              <a:buNone/>
            </a:pPr>
            <a:r>
              <a:rPr lang="en-US" sz="1150" dirty="0">
                <a:solidFill>
                  <a:srgbClr val="52647A"/>
                </a:solidFill>
              </a:rPr>
              <a:t>Java 21 + JDBC + MySQL 환경에서 동시 처리 흐름을 작은 실험으로 확인</a:t>
            </a:r>
            <a:endParaRPr lang="en-US" sz="1150" dirty="0"/>
          </a:p>
        </p:txBody>
      </p:sp>
      <p:sp>
        <p:nvSpPr>
          <p:cNvPr id="5" name="Shape 3"/>
          <p:cNvSpPr/>
          <p:nvPr/>
        </p:nvSpPr>
        <p:spPr>
          <a:xfrm>
            <a:off x="658368" y="1234440"/>
            <a:ext cx="4297680" cy="1874520"/>
          </a:xfrm>
          <a:prstGeom prst="roundRect">
            <a:avLst>
              <a:gd name="adj" fmla="val 3902"/>
            </a:avLst>
          </a:prstGeom>
          <a:solidFill>
            <a:srgbClr val="FFFFFF"/>
          </a:solidFill>
          <a:ln w="12700">
            <a:solidFill>
              <a:srgbClr val="D8E1EE"/>
            </a:solidFill>
            <a:prstDash val="solid"/>
          </a:ln>
        </p:spPr>
        <p:txBody>
          <a:bodyPr/>
          <a:lstStyle/>
          <a:p>
            <a:endParaRPr lang="ko-KR" altLang="en-US"/>
          </a:p>
        </p:txBody>
      </p:sp>
      <p:sp>
        <p:nvSpPr>
          <p:cNvPr id="6" name="Shape 4"/>
          <p:cNvSpPr/>
          <p:nvPr/>
        </p:nvSpPr>
        <p:spPr>
          <a:xfrm>
            <a:off x="658368" y="1234440"/>
            <a:ext cx="73152" cy="1874520"/>
          </a:xfrm>
          <a:prstGeom prst="rect">
            <a:avLst/>
          </a:prstGeom>
          <a:solidFill>
            <a:srgbClr val="1557C0"/>
          </a:solidFill>
          <a:ln w="12700">
            <a:solidFill>
              <a:srgbClr val="1557C0"/>
            </a:solidFill>
            <a:prstDash val="solid"/>
          </a:ln>
        </p:spPr>
        <p:txBody>
          <a:bodyPr/>
          <a:lstStyle/>
          <a:p>
            <a:endParaRPr lang="ko-KR" altLang="en-US"/>
          </a:p>
        </p:txBody>
      </p:sp>
      <p:sp>
        <p:nvSpPr>
          <p:cNvPr id="7" name="Text 5"/>
          <p:cNvSpPr/>
          <p:nvPr/>
        </p:nvSpPr>
        <p:spPr>
          <a:xfrm>
            <a:off x="877824" y="1399032"/>
            <a:ext cx="3931920" cy="274320"/>
          </a:xfrm>
          <a:prstGeom prst="rect">
            <a:avLst/>
          </a:prstGeom>
          <a:noFill/>
          <a:ln/>
        </p:spPr>
        <p:txBody>
          <a:bodyPr wrap="square" lIns="0" tIns="0" rIns="0" bIns="0" rtlCol="0" anchor="ctr"/>
          <a:lstStyle/>
          <a:p>
            <a:pPr marL="0" indent="0">
              <a:buNone/>
            </a:pPr>
            <a:r>
              <a:rPr lang="en-US" sz="1600" b="1" dirty="0">
                <a:solidFill>
                  <a:srgbClr val="17243A"/>
                </a:solidFill>
              </a:rPr>
              <a:t>프로젝트에서의 의미</a:t>
            </a:r>
            <a:endParaRPr lang="en-US" sz="1600" dirty="0"/>
          </a:p>
        </p:txBody>
      </p:sp>
      <p:sp>
        <p:nvSpPr>
          <p:cNvPr id="8" name="Text 6"/>
          <p:cNvSpPr/>
          <p:nvPr/>
        </p:nvSpPr>
        <p:spPr>
          <a:xfrm>
            <a:off x="877824" y="1801368"/>
            <a:ext cx="3886200" cy="1179576"/>
          </a:xfrm>
          <a:prstGeom prst="rect">
            <a:avLst/>
          </a:prstGeom>
          <a:noFill/>
          <a:ln/>
        </p:spPr>
        <p:txBody>
          <a:bodyPr wrap="square" lIns="0" tIns="0" rIns="0" bIns="0" rtlCol="0" anchor="t"/>
          <a:lstStyle/>
          <a:p>
            <a:pPr marL="0" indent="0">
              <a:buNone/>
            </a:pPr>
            <a:r>
              <a:rPr lang="en-US" sz="1150" dirty="0">
                <a:solidFill>
                  <a:srgbClr val="52647A"/>
                </a:solidFill>
              </a:rPr>
              <a:t>DB 조회·저장 과정에서는 CPU 연산뿐 아니라 DB 응답을 기다리는 I/O 대기가 발생할 수 있습니다.</a:t>
            </a:r>
            <a:endParaRPr lang="en-US" sz="1150" dirty="0"/>
          </a:p>
          <a:p>
            <a:pPr marL="0" indent="0">
              <a:buNone/>
            </a:pPr>
            <a:endParaRPr lang="en-US" sz="1150" dirty="0"/>
          </a:p>
          <a:p>
            <a:pPr marL="0" indent="0">
              <a:buNone/>
            </a:pPr>
            <a:r>
              <a:rPr lang="en-US" sz="1150" dirty="0">
                <a:solidFill>
                  <a:srgbClr val="52647A"/>
                </a:solidFill>
              </a:rPr>
              <a:t>따라서 여러 DB 작업이 동시에 요청되는 상황을 가정해 Virtual Thread의 처리 흐름을 확인합니다.</a:t>
            </a:r>
            <a:endParaRPr lang="en-US" sz="1150" dirty="0"/>
          </a:p>
        </p:txBody>
      </p:sp>
      <p:sp>
        <p:nvSpPr>
          <p:cNvPr id="9" name="Shape 7"/>
          <p:cNvSpPr/>
          <p:nvPr/>
        </p:nvSpPr>
        <p:spPr>
          <a:xfrm>
            <a:off x="749808" y="3429000"/>
            <a:ext cx="1143000" cy="329184"/>
          </a:xfrm>
          <a:prstGeom prst="roundRect">
            <a:avLst>
              <a:gd name="adj" fmla="val 22222"/>
            </a:avLst>
          </a:prstGeom>
          <a:solidFill>
            <a:srgbClr val="12824C"/>
          </a:solidFill>
          <a:ln w="12700">
            <a:solidFill>
              <a:srgbClr val="12824C"/>
            </a:solidFill>
            <a:prstDash val="solid"/>
          </a:ln>
        </p:spPr>
        <p:txBody>
          <a:bodyPr/>
          <a:lstStyle/>
          <a:p>
            <a:endParaRPr lang="ko-KR" altLang="en-US"/>
          </a:p>
        </p:txBody>
      </p:sp>
      <p:sp>
        <p:nvSpPr>
          <p:cNvPr id="10" name="Text 8"/>
          <p:cNvSpPr/>
          <p:nvPr/>
        </p:nvSpPr>
        <p:spPr>
          <a:xfrm>
            <a:off x="804672" y="3497580"/>
            <a:ext cx="1033272" cy="164592"/>
          </a:xfrm>
          <a:prstGeom prst="rect">
            <a:avLst/>
          </a:prstGeom>
          <a:noFill/>
          <a:ln/>
        </p:spPr>
        <p:txBody>
          <a:bodyPr wrap="square" lIns="0" tIns="0" rIns="0" bIns="0" rtlCol="0" anchor="ctr"/>
          <a:lstStyle/>
          <a:p>
            <a:pPr marL="0" indent="0" algn="ctr">
              <a:buNone/>
            </a:pPr>
            <a:r>
              <a:rPr lang="en-US" sz="1050" b="1" dirty="0">
                <a:solidFill>
                  <a:srgbClr val="FFFFFF"/>
                </a:solidFill>
              </a:rPr>
              <a:t>실험 목표</a:t>
            </a:r>
            <a:endParaRPr lang="en-US" sz="1050" dirty="0"/>
          </a:p>
        </p:txBody>
      </p:sp>
      <p:sp>
        <p:nvSpPr>
          <p:cNvPr id="11" name="Text 9"/>
          <p:cNvSpPr/>
          <p:nvPr/>
        </p:nvSpPr>
        <p:spPr>
          <a:xfrm>
            <a:off x="822960" y="3931920"/>
            <a:ext cx="256032" cy="256032"/>
          </a:xfrm>
          <a:prstGeom prst="rect">
            <a:avLst/>
          </a:prstGeom>
          <a:solidFill>
            <a:srgbClr val="12824C"/>
          </a:solid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2" name="Text 10"/>
          <p:cNvSpPr/>
          <p:nvPr/>
        </p:nvSpPr>
        <p:spPr>
          <a:xfrm>
            <a:off x="1188720" y="3941064"/>
            <a:ext cx="3886200" cy="219456"/>
          </a:xfrm>
          <a:prstGeom prst="rect">
            <a:avLst/>
          </a:prstGeom>
          <a:noFill/>
          <a:ln/>
        </p:spPr>
        <p:txBody>
          <a:bodyPr wrap="square" lIns="0" tIns="0" rIns="0" bIns="0" rtlCol="0" anchor="ctr"/>
          <a:lstStyle/>
          <a:p>
            <a:pPr marL="0" indent="0">
              <a:buNone/>
            </a:pPr>
            <a:r>
              <a:rPr lang="en-US" sz="1300" dirty="0">
                <a:solidFill>
                  <a:srgbClr val="17243A"/>
                </a:solidFill>
              </a:rPr>
              <a:t>여러 주문 처리 작업 생성</a:t>
            </a:r>
            <a:endParaRPr lang="en-US" sz="1300" dirty="0"/>
          </a:p>
        </p:txBody>
      </p:sp>
      <p:sp>
        <p:nvSpPr>
          <p:cNvPr id="13" name="Text 11"/>
          <p:cNvSpPr/>
          <p:nvPr/>
        </p:nvSpPr>
        <p:spPr>
          <a:xfrm>
            <a:off x="822960" y="4370832"/>
            <a:ext cx="256032" cy="256032"/>
          </a:xfrm>
          <a:prstGeom prst="rect">
            <a:avLst/>
          </a:prstGeom>
          <a:solidFill>
            <a:srgbClr val="12824C"/>
          </a:solid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4" name="Text 12"/>
          <p:cNvSpPr/>
          <p:nvPr/>
        </p:nvSpPr>
        <p:spPr>
          <a:xfrm>
            <a:off x="1188720" y="4379976"/>
            <a:ext cx="3886200" cy="219456"/>
          </a:xfrm>
          <a:prstGeom prst="rect">
            <a:avLst/>
          </a:prstGeom>
          <a:noFill/>
          <a:ln/>
        </p:spPr>
        <p:txBody>
          <a:bodyPr wrap="square" lIns="0" tIns="0" rIns="0" bIns="0" rtlCol="0" anchor="ctr"/>
          <a:lstStyle/>
          <a:p>
            <a:pPr marL="0" indent="0">
              <a:buNone/>
            </a:pPr>
            <a:r>
              <a:rPr lang="en-US" sz="1300" dirty="0">
                <a:solidFill>
                  <a:srgbClr val="17243A"/>
                </a:solidFill>
              </a:rPr>
              <a:t>각 작업을 Virtual Thread로 실행</a:t>
            </a:r>
            <a:endParaRPr lang="en-US" sz="1300" dirty="0"/>
          </a:p>
        </p:txBody>
      </p:sp>
      <p:sp>
        <p:nvSpPr>
          <p:cNvPr id="15" name="Text 13"/>
          <p:cNvSpPr/>
          <p:nvPr/>
        </p:nvSpPr>
        <p:spPr>
          <a:xfrm>
            <a:off x="822960" y="4809744"/>
            <a:ext cx="256032" cy="256032"/>
          </a:xfrm>
          <a:prstGeom prst="rect">
            <a:avLst/>
          </a:prstGeom>
          <a:solidFill>
            <a:srgbClr val="12824C"/>
          </a:solid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6" name="Text 14"/>
          <p:cNvSpPr/>
          <p:nvPr/>
        </p:nvSpPr>
        <p:spPr>
          <a:xfrm>
            <a:off x="1188720" y="4818888"/>
            <a:ext cx="3886200" cy="219456"/>
          </a:xfrm>
          <a:prstGeom prst="rect">
            <a:avLst/>
          </a:prstGeom>
          <a:noFill/>
          <a:ln/>
        </p:spPr>
        <p:txBody>
          <a:bodyPr wrap="square" lIns="0" tIns="0" rIns="0" bIns="0" rtlCol="0" anchor="ctr"/>
          <a:lstStyle/>
          <a:p>
            <a:pPr marL="0" indent="0">
              <a:buNone/>
            </a:pPr>
            <a:r>
              <a:rPr lang="en-US" sz="1300" dirty="0">
                <a:solidFill>
                  <a:srgbClr val="17243A"/>
                </a:solidFill>
              </a:rPr>
              <a:t>DB I/O 대기 상황 재현</a:t>
            </a:r>
            <a:endParaRPr lang="en-US" sz="1300" dirty="0"/>
          </a:p>
        </p:txBody>
      </p:sp>
      <p:sp>
        <p:nvSpPr>
          <p:cNvPr id="17" name="Text 15"/>
          <p:cNvSpPr/>
          <p:nvPr/>
        </p:nvSpPr>
        <p:spPr>
          <a:xfrm>
            <a:off x="822960" y="5248656"/>
            <a:ext cx="256032" cy="256032"/>
          </a:xfrm>
          <a:prstGeom prst="rect">
            <a:avLst/>
          </a:prstGeom>
          <a:solidFill>
            <a:srgbClr val="12824C"/>
          </a:solid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8" name="Text 16"/>
          <p:cNvSpPr/>
          <p:nvPr/>
        </p:nvSpPr>
        <p:spPr>
          <a:xfrm>
            <a:off x="1188720" y="5257800"/>
            <a:ext cx="3886200" cy="219456"/>
          </a:xfrm>
          <a:prstGeom prst="rect">
            <a:avLst/>
          </a:prstGeom>
          <a:noFill/>
          <a:ln/>
        </p:spPr>
        <p:txBody>
          <a:bodyPr wrap="square" lIns="0" tIns="0" rIns="0" bIns="0" rtlCol="0" anchor="ctr"/>
          <a:lstStyle/>
          <a:p>
            <a:pPr marL="0" indent="0">
              <a:buNone/>
            </a:pPr>
            <a:r>
              <a:rPr lang="en-US" sz="1300" dirty="0">
                <a:solidFill>
                  <a:srgbClr val="17243A"/>
                </a:solidFill>
              </a:rPr>
              <a:t>콘솔 로그로 시작/종료 흐름 확인</a:t>
            </a:r>
            <a:endParaRPr lang="en-US" sz="1300" dirty="0"/>
          </a:p>
        </p:txBody>
      </p:sp>
      <p:sp>
        <p:nvSpPr>
          <p:cNvPr id="19" name="Shape 17"/>
          <p:cNvSpPr/>
          <p:nvPr/>
        </p:nvSpPr>
        <p:spPr>
          <a:xfrm>
            <a:off x="5715000" y="1261872"/>
            <a:ext cx="1920240" cy="603504"/>
          </a:xfrm>
          <a:prstGeom prst="roundRect">
            <a:avLst>
              <a:gd name="adj" fmla="val 9091"/>
            </a:avLst>
          </a:prstGeom>
          <a:solidFill>
            <a:srgbClr val="FFFFFF"/>
          </a:solidFill>
          <a:ln w="17780">
            <a:solidFill>
              <a:srgbClr val="1557C0"/>
            </a:solidFill>
            <a:prstDash val="solid"/>
          </a:ln>
        </p:spPr>
        <p:txBody>
          <a:bodyPr/>
          <a:lstStyle/>
          <a:p>
            <a:endParaRPr lang="ko-KR" altLang="en-US"/>
          </a:p>
        </p:txBody>
      </p:sp>
      <p:sp>
        <p:nvSpPr>
          <p:cNvPr id="20" name="Text 18"/>
          <p:cNvSpPr/>
          <p:nvPr/>
        </p:nvSpPr>
        <p:spPr>
          <a:xfrm>
            <a:off x="5806440" y="1444752"/>
            <a:ext cx="1737360" cy="201168"/>
          </a:xfrm>
          <a:prstGeom prst="rect">
            <a:avLst/>
          </a:prstGeom>
          <a:noFill/>
          <a:ln/>
        </p:spPr>
        <p:txBody>
          <a:bodyPr wrap="square" lIns="0" tIns="0" rIns="0" bIns="0" rtlCol="0" anchor="ctr"/>
          <a:lstStyle/>
          <a:p>
            <a:pPr marL="0" indent="0" algn="ctr">
              <a:buNone/>
            </a:pPr>
            <a:r>
              <a:rPr lang="en-US" sz="1300" b="1" dirty="0">
                <a:solidFill>
                  <a:srgbClr val="123B7A"/>
                </a:solidFill>
              </a:rPr>
              <a:t>카페 주문 요청</a:t>
            </a:r>
            <a:endParaRPr lang="en-US" sz="1300" dirty="0"/>
          </a:p>
        </p:txBody>
      </p:sp>
      <p:sp>
        <p:nvSpPr>
          <p:cNvPr id="21" name="Shape 19"/>
          <p:cNvSpPr/>
          <p:nvPr/>
        </p:nvSpPr>
        <p:spPr>
          <a:xfrm>
            <a:off x="6675120" y="1901952"/>
            <a:ext cx="0" cy="137160"/>
          </a:xfrm>
          <a:prstGeom prst="line">
            <a:avLst/>
          </a:prstGeom>
          <a:noFill/>
          <a:ln w="27940">
            <a:solidFill>
              <a:srgbClr val="1557C0"/>
            </a:solidFill>
            <a:prstDash val="solid"/>
            <a:headEnd type="none"/>
            <a:tailEnd type="triangle"/>
          </a:ln>
        </p:spPr>
        <p:txBody>
          <a:bodyPr/>
          <a:lstStyle/>
          <a:p>
            <a:endParaRPr lang="ko-KR" altLang="en-US"/>
          </a:p>
        </p:txBody>
      </p:sp>
      <p:sp>
        <p:nvSpPr>
          <p:cNvPr id="22" name="Shape 20"/>
          <p:cNvSpPr/>
          <p:nvPr/>
        </p:nvSpPr>
        <p:spPr>
          <a:xfrm>
            <a:off x="5715000" y="2084832"/>
            <a:ext cx="1920240" cy="603504"/>
          </a:xfrm>
          <a:prstGeom prst="roundRect">
            <a:avLst>
              <a:gd name="adj" fmla="val 9091"/>
            </a:avLst>
          </a:prstGeom>
          <a:solidFill>
            <a:srgbClr val="FFFFFF"/>
          </a:solidFill>
          <a:ln w="17780">
            <a:solidFill>
              <a:srgbClr val="1557C0"/>
            </a:solidFill>
            <a:prstDash val="solid"/>
          </a:ln>
        </p:spPr>
        <p:txBody>
          <a:bodyPr/>
          <a:lstStyle/>
          <a:p>
            <a:endParaRPr lang="ko-KR" altLang="en-US"/>
          </a:p>
        </p:txBody>
      </p:sp>
      <p:sp>
        <p:nvSpPr>
          <p:cNvPr id="23" name="Text 21"/>
          <p:cNvSpPr/>
          <p:nvPr/>
        </p:nvSpPr>
        <p:spPr>
          <a:xfrm>
            <a:off x="5806440" y="2267712"/>
            <a:ext cx="1737360" cy="201168"/>
          </a:xfrm>
          <a:prstGeom prst="rect">
            <a:avLst/>
          </a:prstGeom>
          <a:noFill/>
          <a:ln/>
        </p:spPr>
        <p:txBody>
          <a:bodyPr wrap="square" lIns="0" tIns="0" rIns="0" bIns="0" rtlCol="0" anchor="ctr"/>
          <a:lstStyle/>
          <a:p>
            <a:pPr marL="0" indent="0" algn="ctr">
              <a:buNone/>
            </a:pPr>
            <a:r>
              <a:rPr lang="en-US" sz="1300" b="1" dirty="0">
                <a:solidFill>
                  <a:srgbClr val="123B7A"/>
                </a:solidFill>
              </a:rPr>
              <a:t>Java 21 Backend</a:t>
            </a:r>
            <a:endParaRPr lang="en-US" sz="1300" dirty="0"/>
          </a:p>
        </p:txBody>
      </p:sp>
      <p:sp>
        <p:nvSpPr>
          <p:cNvPr id="24" name="Shape 22"/>
          <p:cNvSpPr/>
          <p:nvPr/>
        </p:nvSpPr>
        <p:spPr>
          <a:xfrm>
            <a:off x="6675120" y="2724912"/>
            <a:ext cx="0" cy="137160"/>
          </a:xfrm>
          <a:prstGeom prst="line">
            <a:avLst/>
          </a:prstGeom>
          <a:noFill/>
          <a:ln w="27940">
            <a:solidFill>
              <a:srgbClr val="1557C0"/>
            </a:solidFill>
            <a:prstDash val="solid"/>
            <a:headEnd type="none"/>
            <a:tailEnd type="triangle"/>
          </a:ln>
        </p:spPr>
        <p:txBody>
          <a:bodyPr/>
          <a:lstStyle/>
          <a:p>
            <a:endParaRPr lang="ko-KR" altLang="en-US"/>
          </a:p>
        </p:txBody>
      </p:sp>
      <p:sp>
        <p:nvSpPr>
          <p:cNvPr id="25" name="Shape 23"/>
          <p:cNvSpPr/>
          <p:nvPr/>
        </p:nvSpPr>
        <p:spPr>
          <a:xfrm>
            <a:off x="5715000" y="2907792"/>
            <a:ext cx="1920240" cy="603504"/>
          </a:xfrm>
          <a:prstGeom prst="roundRect">
            <a:avLst>
              <a:gd name="adj" fmla="val 9091"/>
            </a:avLst>
          </a:prstGeom>
          <a:solidFill>
            <a:srgbClr val="EAF7F0"/>
          </a:solidFill>
          <a:ln w="17780">
            <a:solidFill>
              <a:srgbClr val="12824C"/>
            </a:solidFill>
            <a:prstDash val="solid"/>
          </a:ln>
        </p:spPr>
        <p:txBody>
          <a:bodyPr/>
          <a:lstStyle/>
          <a:p>
            <a:endParaRPr lang="ko-KR" altLang="en-US"/>
          </a:p>
        </p:txBody>
      </p:sp>
      <p:sp>
        <p:nvSpPr>
          <p:cNvPr id="26" name="Text 24"/>
          <p:cNvSpPr/>
          <p:nvPr/>
        </p:nvSpPr>
        <p:spPr>
          <a:xfrm>
            <a:off x="5806440" y="3090672"/>
            <a:ext cx="1737360" cy="201168"/>
          </a:xfrm>
          <a:prstGeom prst="rect">
            <a:avLst/>
          </a:prstGeom>
          <a:noFill/>
          <a:ln/>
        </p:spPr>
        <p:txBody>
          <a:bodyPr wrap="square" lIns="0" tIns="0" rIns="0" bIns="0" rtlCol="0" anchor="ctr"/>
          <a:lstStyle/>
          <a:p>
            <a:pPr marL="0" indent="0" algn="ctr">
              <a:buNone/>
            </a:pPr>
            <a:r>
              <a:rPr lang="en-US" sz="1300" b="1" dirty="0">
                <a:solidFill>
                  <a:srgbClr val="12824C"/>
                </a:solidFill>
              </a:rPr>
              <a:t>Virtual Thread + JDBC DAO</a:t>
            </a:r>
            <a:endParaRPr lang="en-US" sz="1300" dirty="0"/>
          </a:p>
        </p:txBody>
      </p:sp>
      <p:sp>
        <p:nvSpPr>
          <p:cNvPr id="27" name="Shape 25"/>
          <p:cNvSpPr/>
          <p:nvPr/>
        </p:nvSpPr>
        <p:spPr>
          <a:xfrm>
            <a:off x="6675120" y="3547872"/>
            <a:ext cx="0" cy="137160"/>
          </a:xfrm>
          <a:prstGeom prst="line">
            <a:avLst/>
          </a:prstGeom>
          <a:noFill/>
          <a:ln w="27940">
            <a:solidFill>
              <a:srgbClr val="1557C0"/>
            </a:solidFill>
            <a:prstDash val="solid"/>
            <a:headEnd type="none"/>
            <a:tailEnd type="triangle"/>
          </a:ln>
        </p:spPr>
        <p:txBody>
          <a:bodyPr/>
          <a:lstStyle/>
          <a:p>
            <a:endParaRPr lang="ko-KR" altLang="en-US"/>
          </a:p>
        </p:txBody>
      </p:sp>
      <p:sp>
        <p:nvSpPr>
          <p:cNvPr id="28" name="Shape 26"/>
          <p:cNvSpPr/>
          <p:nvPr/>
        </p:nvSpPr>
        <p:spPr>
          <a:xfrm>
            <a:off x="5715000" y="3730752"/>
            <a:ext cx="1920240" cy="603504"/>
          </a:xfrm>
          <a:prstGeom prst="roundRect">
            <a:avLst>
              <a:gd name="adj" fmla="val 9091"/>
            </a:avLst>
          </a:prstGeom>
          <a:solidFill>
            <a:srgbClr val="FFFFFF"/>
          </a:solidFill>
          <a:ln w="17780">
            <a:solidFill>
              <a:srgbClr val="1557C0"/>
            </a:solidFill>
            <a:prstDash val="solid"/>
          </a:ln>
        </p:spPr>
        <p:txBody>
          <a:bodyPr/>
          <a:lstStyle/>
          <a:p>
            <a:endParaRPr lang="ko-KR" altLang="en-US"/>
          </a:p>
        </p:txBody>
      </p:sp>
      <p:sp>
        <p:nvSpPr>
          <p:cNvPr id="29" name="Text 27"/>
          <p:cNvSpPr/>
          <p:nvPr/>
        </p:nvSpPr>
        <p:spPr>
          <a:xfrm>
            <a:off x="5806440" y="3913632"/>
            <a:ext cx="1737360" cy="201168"/>
          </a:xfrm>
          <a:prstGeom prst="rect">
            <a:avLst/>
          </a:prstGeom>
          <a:noFill/>
          <a:ln/>
        </p:spPr>
        <p:txBody>
          <a:bodyPr wrap="square" lIns="0" tIns="0" rIns="0" bIns="0" rtlCol="0" anchor="ctr"/>
          <a:lstStyle/>
          <a:p>
            <a:pPr marL="0" indent="0" algn="ctr">
              <a:buNone/>
            </a:pPr>
            <a:r>
              <a:rPr lang="en-US" sz="1300" b="1" dirty="0">
                <a:solidFill>
                  <a:srgbClr val="123B7A"/>
                </a:solidFill>
              </a:rPr>
              <a:t>MySQL</a:t>
            </a:r>
            <a:endParaRPr lang="en-US" sz="1300" dirty="0"/>
          </a:p>
        </p:txBody>
      </p:sp>
      <p:sp>
        <p:nvSpPr>
          <p:cNvPr id="30" name="Shape 28"/>
          <p:cNvSpPr/>
          <p:nvPr/>
        </p:nvSpPr>
        <p:spPr>
          <a:xfrm>
            <a:off x="6675120" y="4370832"/>
            <a:ext cx="0" cy="155448"/>
          </a:xfrm>
          <a:prstGeom prst="line">
            <a:avLst/>
          </a:prstGeom>
          <a:noFill/>
          <a:ln w="27940">
            <a:solidFill>
              <a:srgbClr val="1557C0"/>
            </a:solidFill>
            <a:prstDash val="solid"/>
            <a:headEnd type="none"/>
            <a:tailEnd type="triangle"/>
          </a:ln>
        </p:spPr>
        <p:txBody>
          <a:bodyPr/>
          <a:lstStyle/>
          <a:p>
            <a:endParaRPr lang="ko-KR" altLang="en-US"/>
          </a:p>
        </p:txBody>
      </p:sp>
      <p:sp>
        <p:nvSpPr>
          <p:cNvPr id="31" name="Shape 29"/>
          <p:cNvSpPr/>
          <p:nvPr/>
        </p:nvSpPr>
        <p:spPr>
          <a:xfrm>
            <a:off x="5715000" y="4572000"/>
            <a:ext cx="2926080" cy="603504"/>
          </a:xfrm>
          <a:prstGeom prst="roundRect">
            <a:avLst>
              <a:gd name="adj" fmla="val 9091"/>
            </a:avLst>
          </a:prstGeom>
          <a:solidFill>
            <a:srgbClr val="FFFFFF"/>
          </a:solidFill>
          <a:ln w="17780">
            <a:solidFill>
              <a:srgbClr val="1557C0"/>
            </a:solidFill>
            <a:prstDash val="solid"/>
          </a:ln>
        </p:spPr>
        <p:txBody>
          <a:bodyPr/>
          <a:lstStyle/>
          <a:p>
            <a:endParaRPr lang="ko-KR" altLang="en-US"/>
          </a:p>
        </p:txBody>
      </p:sp>
      <p:sp>
        <p:nvSpPr>
          <p:cNvPr id="32" name="Text 30"/>
          <p:cNvSpPr/>
          <p:nvPr/>
        </p:nvSpPr>
        <p:spPr>
          <a:xfrm>
            <a:off x="5806440" y="4754880"/>
            <a:ext cx="2743200" cy="201168"/>
          </a:xfrm>
          <a:prstGeom prst="rect">
            <a:avLst/>
          </a:prstGeom>
          <a:noFill/>
          <a:ln/>
        </p:spPr>
        <p:txBody>
          <a:bodyPr wrap="square" lIns="0" tIns="0" rIns="0" bIns="0" rtlCol="0" anchor="ctr"/>
          <a:lstStyle/>
          <a:p>
            <a:pPr marL="0" indent="0" algn="ctr">
              <a:buNone/>
            </a:pPr>
            <a:r>
              <a:rPr lang="en-US" sz="1200" b="1" dirty="0">
                <a:solidFill>
                  <a:srgbClr val="123B7A"/>
                </a:solidFill>
              </a:rPr>
              <a:t>DB I/O 대기 → 처리 흐름 확인</a:t>
            </a:r>
            <a:endParaRPr lang="en-US" sz="1200" dirty="0"/>
          </a:p>
        </p:txBody>
      </p:sp>
      <p:sp>
        <p:nvSpPr>
          <p:cNvPr id="33" name="Shape 31"/>
          <p:cNvSpPr/>
          <p:nvPr/>
        </p:nvSpPr>
        <p:spPr>
          <a:xfrm>
            <a:off x="9006840" y="1371600"/>
            <a:ext cx="2423160" cy="3566160"/>
          </a:xfrm>
          <a:prstGeom prst="roundRect">
            <a:avLst>
              <a:gd name="adj" fmla="val 3019"/>
            </a:avLst>
          </a:prstGeom>
          <a:solidFill>
            <a:srgbClr val="F2F6FC"/>
          </a:solidFill>
          <a:ln w="12700">
            <a:solidFill>
              <a:srgbClr val="D8E1EE"/>
            </a:solidFill>
            <a:prstDash val="solid"/>
          </a:ln>
        </p:spPr>
        <p:txBody>
          <a:bodyPr/>
          <a:lstStyle/>
          <a:p>
            <a:endParaRPr lang="ko-KR" altLang="en-US"/>
          </a:p>
        </p:txBody>
      </p:sp>
      <p:sp>
        <p:nvSpPr>
          <p:cNvPr id="34" name="Text 32"/>
          <p:cNvSpPr/>
          <p:nvPr/>
        </p:nvSpPr>
        <p:spPr>
          <a:xfrm>
            <a:off x="9281160" y="1664208"/>
            <a:ext cx="1874520" cy="274320"/>
          </a:xfrm>
          <a:prstGeom prst="rect">
            <a:avLst/>
          </a:prstGeom>
          <a:noFill/>
          <a:ln/>
        </p:spPr>
        <p:txBody>
          <a:bodyPr wrap="square" lIns="0" tIns="0" rIns="0" bIns="0" rtlCol="0" anchor="ctr"/>
          <a:lstStyle/>
          <a:p>
            <a:pPr marL="0" indent="0" algn="ctr">
              <a:buNone/>
            </a:pPr>
            <a:r>
              <a:rPr lang="en-US" sz="1600" b="1" dirty="0">
                <a:solidFill>
                  <a:srgbClr val="123B7A"/>
                </a:solidFill>
              </a:rPr>
              <a:t>확인할 것</a:t>
            </a:r>
            <a:endParaRPr lang="en-US" sz="1600" dirty="0"/>
          </a:p>
        </p:txBody>
      </p:sp>
      <p:sp>
        <p:nvSpPr>
          <p:cNvPr id="35" name="Text 33"/>
          <p:cNvSpPr/>
          <p:nvPr/>
        </p:nvSpPr>
        <p:spPr>
          <a:xfrm>
            <a:off x="9372600" y="2240280"/>
            <a:ext cx="1737360" cy="1828800"/>
          </a:xfrm>
          <a:prstGeom prst="rect">
            <a:avLst/>
          </a:prstGeom>
          <a:noFill/>
          <a:ln/>
        </p:spPr>
        <p:txBody>
          <a:bodyPr wrap="square" lIns="254" tIns="254" rIns="254" bIns="254" rtlCol="0" anchor="ctr"/>
          <a:lstStyle/>
          <a:p>
            <a:pPr marL="0" indent="0">
              <a:buNone/>
            </a:pPr>
            <a:r>
              <a:rPr lang="en-US" sz="1300" dirty="0">
                <a:solidFill>
                  <a:srgbClr val="17243A"/>
                </a:solidFill>
              </a:rPr>
              <a:t>• 스레드 이름</a:t>
            </a:r>
            <a:endParaRPr lang="en-US" sz="1300" dirty="0"/>
          </a:p>
          <a:p>
            <a:pPr marL="0" indent="0">
              <a:buNone/>
            </a:pPr>
            <a:endParaRPr lang="en-US" sz="1300" dirty="0"/>
          </a:p>
          <a:p>
            <a:pPr marL="0" indent="0">
              <a:buNone/>
            </a:pPr>
            <a:r>
              <a:rPr lang="en-US" sz="1300" dirty="0">
                <a:solidFill>
                  <a:srgbClr val="17243A"/>
                </a:solidFill>
              </a:rPr>
              <a:t>• 작업 시작 시점</a:t>
            </a:r>
            <a:endParaRPr lang="en-US" sz="1300" dirty="0"/>
          </a:p>
          <a:p>
            <a:pPr marL="0" indent="0">
              <a:buNone/>
            </a:pPr>
            <a:endParaRPr lang="en-US" sz="1300" dirty="0"/>
          </a:p>
          <a:p>
            <a:pPr marL="0" indent="0">
              <a:buNone/>
            </a:pPr>
            <a:r>
              <a:rPr lang="en-US" sz="1300" dirty="0">
                <a:solidFill>
                  <a:srgbClr val="17243A"/>
                </a:solidFill>
              </a:rPr>
              <a:t>• DB 대기 구간</a:t>
            </a:r>
            <a:endParaRPr lang="en-US" sz="1300" dirty="0"/>
          </a:p>
          <a:p>
            <a:pPr marL="0" indent="0">
              <a:buNone/>
            </a:pPr>
            <a:endParaRPr lang="en-US" sz="1300" dirty="0"/>
          </a:p>
          <a:p>
            <a:pPr marL="0" indent="0">
              <a:buNone/>
            </a:pPr>
            <a:r>
              <a:rPr lang="en-US" sz="1300" dirty="0">
                <a:solidFill>
                  <a:srgbClr val="17243A"/>
                </a:solidFill>
              </a:rPr>
              <a:t>• 작업 종료 시점</a:t>
            </a:r>
            <a:endParaRPr lang="en-US" sz="1300" dirty="0"/>
          </a:p>
        </p:txBody>
      </p:sp>
      <p:sp>
        <p:nvSpPr>
          <p:cNvPr id="36" name="Shape 34"/>
          <p:cNvSpPr/>
          <p:nvPr/>
        </p:nvSpPr>
        <p:spPr>
          <a:xfrm>
            <a:off x="5532120" y="5715000"/>
            <a:ext cx="5897880" cy="566928"/>
          </a:xfrm>
          <a:prstGeom prst="roundRect">
            <a:avLst>
              <a:gd name="adj" fmla="val 8065"/>
            </a:avLst>
          </a:prstGeom>
          <a:solidFill>
            <a:srgbClr val="EDF4FF"/>
          </a:solidFill>
          <a:ln w="12700">
            <a:solidFill>
              <a:srgbClr val="BFD2F2"/>
            </a:solidFill>
            <a:prstDash val="solid"/>
          </a:ln>
        </p:spPr>
        <p:txBody>
          <a:bodyPr/>
          <a:lstStyle/>
          <a:p>
            <a:endParaRPr lang="ko-KR" altLang="en-US"/>
          </a:p>
        </p:txBody>
      </p:sp>
      <p:sp>
        <p:nvSpPr>
          <p:cNvPr id="37" name="Text 35"/>
          <p:cNvSpPr/>
          <p:nvPr/>
        </p:nvSpPr>
        <p:spPr>
          <a:xfrm>
            <a:off x="5742432" y="5897880"/>
            <a:ext cx="5486400" cy="201168"/>
          </a:xfrm>
          <a:prstGeom prst="rect">
            <a:avLst/>
          </a:prstGeom>
          <a:noFill/>
          <a:ln/>
        </p:spPr>
        <p:txBody>
          <a:bodyPr wrap="square" lIns="0" tIns="0" rIns="0" bIns="0" rtlCol="0" anchor="ctr"/>
          <a:lstStyle/>
          <a:p>
            <a:pPr marL="0" indent="0" algn="ctr">
              <a:buNone/>
            </a:pPr>
            <a:r>
              <a:rPr lang="en-US" sz="1250" b="1" dirty="0">
                <a:solidFill>
                  <a:srgbClr val="1557C0"/>
                </a:solidFill>
              </a:rPr>
              <a:t>목적은 “성능 향상 입증”이 아니라 “I/O 중심 동시 처리 구조의 이해와 확인”</a:t>
            </a:r>
            <a:endParaRPr lang="en-US" sz="1250" dirty="0"/>
          </a:p>
        </p:txBody>
      </p:sp>
      <p:sp>
        <p:nvSpPr>
          <p:cNvPr id="38" name="Slide Number Placeholder 0"/>
          <p:cNvSpPr>
            <a:spLocks noGrp="1"/>
          </p:cNvSpPr>
          <p:nvPr>
            <p:ph type="sldNum" sz="quarter" idx="4294967295"/>
          </p:nvPr>
        </p:nvSpPr>
        <p:spPr>
          <a:xfrm>
            <a:off x="11686032" y="6510528"/>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793A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evious.png"/>
          <p:cNvPicPr>
            <a:picLocks noChangeAspect="1"/>
          </p:cNvPicPr>
          <p:nvPr/>
        </p:nvPicPr>
        <p:blipFill>
          <a:blip r:embed="rId2"/>
          <a:stretch>
            <a:fillRect/>
          </a:stretch>
        </p:blipFill>
        <p:spPr>
          <a:xfrm>
            <a:off x="0" y="-1822"/>
            <a:ext cx="12192000" cy="68616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previous.png"/>
          <p:cNvPicPr>
            <a:picLocks noChangeAspect="1"/>
          </p:cNvPicPr>
          <p:nvPr/>
        </p:nvPicPr>
        <p:blipFill>
          <a:blip r:embed="rId2"/>
          <a:stretch>
            <a:fillRect/>
          </a:stretch>
        </p:blipFill>
        <p:spPr>
          <a:xfrm>
            <a:off x="0" y="-1822"/>
            <a:ext cx="12192000" cy="68616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7_previous.png"/>
          <p:cNvPicPr>
            <a:picLocks noChangeAspect="1"/>
          </p:cNvPicPr>
          <p:nvPr/>
        </p:nvPicPr>
        <p:blipFill>
          <a:blip r:embed="rId2"/>
          <a:stretch>
            <a:fillRect/>
          </a:stretch>
        </p:blipFill>
        <p:spPr>
          <a:xfrm>
            <a:off x="0" y="-1822"/>
            <a:ext cx="12192000" cy="68616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118872"/>
            <a:ext cx="914400" cy="228600"/>
          </a:xfrm>
          <a:prstGeom prst="rect">
            <a:avLst/>
          </a:prstGeom>
          <a:noFill/>
        </p:spPr>
        <p:txBody>
          <a:bodyPr wrap="square" anchor="ctr">
            <a:spAutoFit/>
          </a:bodyPr>
          <a:lstStyle/>
          <a:p>
            <a:pPr algn="l"/>
            <a:r>
              <a:rPr sz="1000" b="1">
                <a:solidFill>
                  <a:srgbClr val="245DBC"/>
                </a:solidFill>
                <a:latin typeface="Aptos"/>
              </a:rPr>
              <a:t>Page 7-2</a:t>
            </a:r>
          </a:p>
        </p:txBody>
      </p:sp>
      <p:sp>
        <p:nvSpPr>
          <p:cNvPr id="3" name="TextBox 2"/>
          <p:cNvSpPr txBox="1"/>
          <p:nvPr/>
        </p:nvSpPr>
        <p:spPr>
          <a:xfrm>
            <a:off x="530352" y="310896"/>
            <a:ext cx="10972800" cy="457200"/>
          </a:xfrm>
          <a:prstGeom prst="rect">
            <a:avLst/>
          </a:prstGeom>
          <a:noFill/>
        </p:spPr>
        <p:txBody>
          <a:bodyPr wrap="square" anchor="ctr">
            <a:spAutoFit/>
          </a:bodyPr>
          <a:lstStyle/>
          <a:p>
            <a:pPr algn="l"/>
            <a:r>
              <a:rPr sz="2700" b="1">
                <a:solidFill>
                  <a:srgbClr val="072A58"/>
                </a:solidFill>
                <a:latin typeface="Aptos"/>
              </a:rPr>
              <a:t>저장 구조 변경: ArrayList에서 MySQL로</a:t>
            </a:r>
          </a:p>
        </p:txBody>
      </p:sp>
      <p:sp>
        <p:nvSpPr>
          <p:cNvPr id="4" name="TextBox 3"/>
          <p:cNvSpPr txBox="1"/>
          <p:nvPr/>
        </p:nvSpPr>
        <p:spPr>
          <a:xfrm>
            <a:off x="548640" y="749808"/>
            <a:ext cx="10972800" cy="292608"/>
          </a:xfrm>
          <a:prstGeom prst="rect">
            <a:avLst/>
          </a:prstGeom>
          <a:noFill/>
        </p:spPr>
        <p:txBody>
          <a:bodyPr wrap="square" anchor="ctr">
            <a:spAutoFit/>
          </a:bodyPr>
          <a:lstStyle/>
          <a:p>
            <a:pPr algn="l"/>
            <a:r>
              <a:rPr sz="1250" b="0">
                <a:solidFill>
                  <a:srgbClr val="566070"/>
                </a:solidFill>
                <a:latin typeface="Aptos"/>
              </a:rPr>
              <a:t>전체 구조를 새로 만든 것이 아니라, OrderRepository의 저장 구현만 JDBC/MySQL 기반으로 변경</a:t>
            </a:r>
          </a:p>
        </p:txBody>
      </p:sp>
      <p:sp>
        <p:nvSpPr>
          <p:cNvPr id="5" name="Rounded Rectangle 4"/>
          <p:cNvSpPr/>
          <p:nvPr/>
        </p:nvSpPr>
        <p:spPr>
          <a:xfrm>
            <a:off x="548640" y="1143000"/>
            <a:ext cx="5212080" cy="1874519"/>
          </a:xfrm>
          <a:prstGeom prst="round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0" y="1143000"/>
            <a:ext cx="5212080" cy="1874519"/>
          </a:xfrm>
          <a:prstGeom prst="roundRect">
            <a:avLst/>
          </a:prstGeom>
          <a:solidFill>
            <a:srgbClr val="EEF4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34440"/>
            <a:ext cx="4846320" cy="256032"/>
          </a:xfrm>
          <a:prstGeom prst="rect">
            <a:avLst/>
          </a:prstGeom>
          <a:noFill/>
        </p:spPr>
        <p:txBody>
          <a:bodyPr wrap="square" anchor="ctr">
            <a:spAutoFit/>
          </a:bodyPr>
          <a:lstStyle/>
          <a:p>
            <a:pPr algn="ctr"/>
            <a:r>
              <a:rPr sz="1500" b="1">
                <a:solidFill>
                  <a:srgbClr val="566070"/>
                </a:solidFill>
                <a:latin typeface="Aptos"/>
              </a:rPr>
              <a:t>Before · 기존 구조</a:t>
            </a:r>
          </a:p>
        </p:txBody>
      </p:sp>
      <p:sp>
        <p:nvSpPr>
          <p:cNvPr id="8" name="TextBox 7"/>
          <p:cNvSpPr txBox="1"/>
          <p:nvPr/>
        </p:nvSpPr>
        <p:spPr>
          <a:xfrm>
            <a:off x="6565392" y="1234440"/>
            <a:ext cx="4846320" cy="256032"/>
          </a:xfrm>
          <a:prstGeom prst="rect">
            <a:avLst/>
          </a:prstGeom>
          <a:noFill/>
        </p:spPr>
        <p:txBody>
          <a:bodyPr wrap="square" anchor="ctr">
            <a:spAutoFit/>
          </a:bodyPr>
          <a:lstStyle/>
          <a:p>
            <a:pPr algn="ctr"/>
            <a:r>
              <a:rPr sz="1500" b="1">
                <a:solidFill>
                  <a:srgbClr val="072A58"/>
                </a:solidFill>
                <a:latin typeface="Aptos"/>
              </a:rPr>
              <a:t>After · 변경 구조</a:t>
            </a:r>
          </a:p>
        </p:txBody>
      </p:sp>
      <p:sp>
        <p:nvSpPr>
          <p:cNvPr id="9" name="Rounded Rectangle 8"/>
          <p:cNvSpPr/>
          <p:nvPr/>
        </p:nvSpPr>
        <p:spPr>
          <a:xfrm>
            <a:off x="960120" y="1572768"/>
            <a:ext cx="4389120" cy="246888"/>
          </a:xfrm>
          <a:prstGeom prst="roundRect">
            <a:avLst/>
          </a:prstGeom>
          <a:solidFill>
            <a:srgbClr val="FFFFFF"/>
          </a:solidFill>
          <a:ln>
            <a:solidFill>
              <a:srgbClr val="566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2" y="1591056"/>
            <a:ext cx="4242816" cy="210312"/>
          </a:xfrm>
          <a:prstGeom prst="rect">
            <a:avLst/>
          </a:prstGeom>
          <a:noFill/>
        </p:spPr>
        <p:txBody>
          <a:bodyPr wrap="square" anchor="ctr">
            <a:spAutoFit/>
          </a:bodyPr>
          <a:lstStyle/>
          <a:p>
            <a:pPr algn="ctr"/>
            <a:r>
              <a:rPr sz="1150" b="1">
                <a:solidFill>
                  <a:srgbClr val="566070"/>
                </a:solidFill>
                <a:latin typeface="Aptos"/>
              </a:rPr>
              <a:t>CafeOrderApplication</a:t>
            </a:r>
          </a:p>
        </p:txBody>
      </p:sp>
      <p:sp>
        <p:nvSpPr>
          <p:cNvPr id="11" name="TextBox 10"/>
          <p:cNvSpPr txBox="1"/>
          <p:nvPr/>
        </p:nvSpPr>
        <p:spPr>
          <a:xfrm>
            <a:off x="3044952" y="1801368"/>
            <a:ext cx="219456" cy="182880"/>
          </a:xfrm>
          <a:prstGeom prst="rect">
            <a:avLst/>
          </a:prstGeom>
          <a:noFill/>
        </p:spPr>
        <p:txBody>
          <a:bodyPr wrap="square" anchor="ctr">
            <a:spAutoFit/>
          </a:bodyPr>
          <a:lstStyle/>
          <a:p>
            <a:pPr algn="ctr"/>
            <a:r>
              <a:rPr sz="1200" b="1">
                <a:solidFill>
                  <a:srgbClr val="566070"/>
                </a:solidFill>
                <a:latin typeface="Aptos"/>
              </a:rPr>
              <a:t>↓</a:t>
            </a:r>
          </a:p>
        </p:txBody>
      </p:sp>
      <p:sp>
        <p:nvSpPr>
          <p:cNvPr id="12" name="Rounded Rectangle 11"/>
          <p:cNvSpPr/>
          <p:nvPr/>
        </p:nvSpPr>
        <p:spPr>
          <a:xfrm>
            <a:off x="960120" y="1892807"/>
            <a:ext cx="4389120" cy="246888"/>
          </a:xfrm>
          <a:prstGeom prst="roundRect">
            <a:avLst/>
          </a:prstGeom>
          <a:solidFill>
            <a:srgbClr val="FFFFFF"/>
          </a:solidFill>
          <a:ln>
            <a:solidFill>
              <a:srgbClr val="566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2" y="1911095"/>
            <a:ext cx="4242816" cy="210312"/>
          </a:xfrm>
          <a:prstGeom prst="rect">
            <a:avLst/>
          </a:prstGeom>
          <a:noFill/>
        </p:spPr>
        <p:txBody>
          <a:bodyPr wrap="square" anchor="ctr">
            <a:spAutoFit/>
          </a:bodyPr>
          <a:lstStyle/>
          <a:p>
            <a:pPr algn="ctr"/>
            <a:r>
              <a:rPr sz="1150" b="1">
                <a:solidFill>
                  <a:srgbClr val="566070"/>
                </a:solidFill>
                <a:latin typeface="Aptos"/>
              </a:rPr>
              <a:t>OrderService</a:t>
            </a:r>
          </a:p>
        </p:txBody>
      </p:sp>
      <p:sp>
        <p:nvSpPr>
          <p:cNvPr id="14" name="TextBox 13"/>
          <p:cNvSpPr txBox="1"/>
          <p:nvPr/>
        </p:nvSpPr>
        <p:spPr>
          <a:xfrm>
            <a:off x="3044952" y="2121408"/>
            <a:ext cx="219456" cy="182880"/>
          </a:xfrm>
          <a:prstGeom prst="rect">
            <a:avLst/>
          </a:prstGeom>
          <a:noFill/>
        </p:spPr>
        <p:txBody>
          <a:bodyPr wrap="square" anchor="ctr">
            <a:spAutoFit/>
          </a:bodyPr>
          <a:lstStyle/>
          <a:p>
            <a:pPr algn="ctr"/>
            <a:r>
              <a:rPr sz="1200" b="1">
                <a:solidFill>
                  <a:srgbClr val="566070"/>
                </a:solidFill>
                <a:latin typeface="Aptos"/>
              </a:rPr>
              <a:t>↓</a:t>
            </a:r>
          </a:p>
        </p:txBody>
      </p:sp>
      <p:sp>
        <p:nvSpPr>
          <p:cNvPr id="15" name="Rounded Rectangle 14"/>
          <p:cNvSpPr/>
          <p:nvPr/>
        </p:nvSpPr>
        <p:spPr>
          <a:xfrm>
            <a:off x="960120" y="2212848"/>
            <a:ext cx="4389120" cy="246888"/>
          </a:xfrm>
          <a:prstGeom prst="roundRect">
            <a:avLst/>
          </a:prstGeom>
          <a:solidFill>
            <a:srgbClr val="FFFFFF"/>
          </a:solidFill>
          <a:ln>
            <a:solidFill>
              <a:srgbClr val="566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3272" y="2231136"/>
            <a:ext cx="4242816" cy="210312"/>
          </a:xfrm>
          <a:prstGeom prst="rect">
            <a:avLst/>
          </a:prstGeom>
          <a:noFill/>
        </p:spPr>
        <p:txBody>
          <a:bodyPr wrap="square" anchor="ctr">
            <a:spAutoFit/>
          </a:bodyPr>
          <a:lstStyle/>
          <a:p>
            <a:pPr algn="ctr"/>
            <a:r>
              <a:rPr sz="1150" b="1">
                <a:solidFill>
                  <a:srgbClr val="566070"/>
                </a:solidFill>
                <a:latin typeface="Aptos"/>
              </a:rPr>
              <a:t>OrderRepository</a:t>
            </a:r>
          </a:p>
        </p:txBody>
      </p:sp>
      <p:sp>
        <p:nvSpPr>
          <p:cNvPr id="17" name="TextBox 16"/>
          <p:cNvSpPr txBox="1"/>
          <p:nvPr/>
        </p:nvSpPr>
        <p:spPr>
          <a:xfrm>
            <a:off x="3044952" y="2441448"/>
            <a:ext cx="219456" cy="182880"/>
          </a:xfrm>
          <a:prstGeom prst="rect">
            <a:avLst/>
          </a:prstGeom>
          <a:noFill/>
        </p:spPr>
        <p:txBody>
          <a:bodyPr wrap="square" anchor="ctr">
            <a:spAutoFit/>
          </a:bodyPr>
          <a:lstStyle/>
          <a:p>
            <a:pPr algn="ctr"/>
            <a:r>
              <a:rPr sz="1200" b="1">
                <a:solidFill>
                  <a:srgbClr val="566070"/>
                </a:solidFill>
                <a:latin typeface="Aptos"/>
              </a:rPr>
              <a:t>↓</a:t>
            </a:r>
          </a:p>
        </p:txBody>
      </p:sp>
      <p:sp>
        <p:nvSpPr>
          <p:cNvPr id="18" name="Rounded Rectangle 17"/>
          <p:cNvSpPr/>
          <p:nvPr/>
        </p:nvSpPr>
        <p:spPr>
          <a:xfrm>
            <a:off x="960120" y="2532888"/>
            <a:ext cx="4389120" cy="246888"/>
          </a:xfrm>
          <a:prstGeom prst="roundRect">
            <a:avLst/>
          </a:prstGeom>
          <a:solidFill>
            <a:srgbClr val="F7F9FC"/>
          </a:solidFill>
          <a:ln>
            <a:solidFill>
              <a:srgbClr val="566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33272" y="2551176"/>
            <a:ext cx="4242816" cy="210312"/>
          </a:xfrm>
          <a:prstGeom prst="rect">
            <a:avLst/>
          </a:prstGeom>
          <a:noFill/>
        </p:spPr>
        <p:txBody>
          <a:bodyPr wrap="square" anchor="ctr">
            <a:spAutoFit/>
          </a:bodyPr>
          <a:lstStyle/>
          <a:p>
            <a:pPr algn="ctr"/>
            <a:r>
              <a:rPr sz="1150" b="1">
                <a:solidFill>
                  <a:srgbClr val="566070"/>
                </a:solidFill>
                <a:latin typeface="Aptos"/>
              </a:rPr>
              <a:t>ArrayList&lt;CafeOrder&gt;</a:t>
            </a:r>
          </a:p>
        </p:txBody>
      </p:sp>
      <p:sp>
        <p:nvSpPr>
          <p:cNvPr id="20" name="Rounded Rectangle 19"/>
          <p:cNvSpPr/>
          <p:nvPr/>
        </p:nvSpPr>
        <p:spPr>
          <a:xfrm>
            <a:off x="6812280" y="1517904"/>
            <a:ext cx="4389120" cy="201167"/>
          </a:xfrm>
          <a:prstGeom prst="roundRect">
            <a:avLst/>
          </a:prstGeom>
          <a:solidFill>
            <a:srgbClr val="FFFF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85432" y="1536192"/>
            <a:ext cx="4242816" cy="164591"/>
          </a:xfrm>
          <a:prstGeom prst="rect">
            <a:avLst/>
          </a:prstGeom>
          <a:noFill/>
        </p:spPr>
        <p:txBody>
          <a:bodyPr wrap="square" anchor="ctr">
            <a:spAutoFit/>
          </a:bodyPr>
          <a:lstStyle/>
          <a:p>
            <a:pPr algn="ctr"/>
            <a:r>
              <a:rPr sz="1150" b="1">
                <a:solidFill>
                  <a:srgbClr val="245DBC"/>
                </a:solidFill>
                <a:latin typeface="Aptos"/>
              </a:rPr>
              <a:t>CafeOrderApplication</a:t>
            </a:r>
          </a:p>
        </p:txBody>
      </p:sp>
      <p:sp>
        <p:nvSpPr>
          <p:cNvPr id="22" name="TextBox 21"/>
          <p:cNvSpPr txBox="1"/>
          <p:nvPr/>
        </p:nvSpPr>
        <p:spPr>
          <a:xfrm>
            <a:off x="8897112" y="1700784"/>
            <a:ext cx="219456" cy="182880"/>
          </a:xfrm>
          <a:prstGeom prst="rect">
            <a:avLst/>
          </a:prstGeom>
          <a:noFill/>
        </p:spPr>
        <p:txBody>
          <a:bodyPr wrap="square" anchor="ctr">
            <a:spAutoFit/>
          </a:bodyPr>
          <a:lstStyle/>
          <a:p>
            <a:pPr algn="ctr"/>
            <a:r>
              <a:rPr sz="1200" b="1">
                <a:solidFill>
                  <a:srgbClr val="245DBC"/>
                </a:solidFill>
                <a:latin typeface="Aptos"/>
              </a:rPr>
              <a:t>↓</a:t>
            </a:r>
          </a:p>
        </p:txBody>
      </p:sp>
      <p:sp>
        <p:nvSpPr>
          <p:cNvPr id="23" name="Rounded Rectangle 22"/>
          <p:cNvSpPr/>
          <p:nvPr/>
        </p:nvSpPr>
        <p:spPr>
          <a:xfrm>
            <a:off x="6812280" y="1792224"/>
            <a:ext cx="4389120" cy="201167"/>
          </a:xfrm>
          <a:prstGeom prst="roundRect">
            <a:avLst/>
          </a:prstGeom>
          <a:solidFill>
            <a:srgbClr val="FFFF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85432" y="1810512"/>
            <a:ext cx="4242816" cy="164591"/>
          </a:xfrm>
          <a:prstGeom prst="rect">
            <a:avLst/>
          </a:prstGeom>
          <a:noFill/>
        </p:spPr>
        <p:txBody>
          <a:bodyPr wrap="square" anchor="ctr">
            <a:spAutoFit/>
          </a:bodyPr>
          <a:lstStyle/>
          <a:p>
            <a:pPr algn="ctr"/>
            <a:r>
              <a:rPr sz="1150" b="1">
                <a:solidFill>
                  <a:srgbClr val="245DBC"/>
                </a:solidFill>
                <a:latin typeface="Aptos"/>
              </a:rPr>
              <a:t>OrderService</a:t>
            </a:r>
          </a:p>
        </p:txBody>
      </p:sp>
      <p:sp>
        <p:nvSpPr>
          <p:cNvPr id="25" name="TextBox 24"/>
          <p:cNvSpPr txBox="1"/>
          <p:nvPr/>
        </p:nvSpPr>
        <p:spPr>
          <a:xfrm>
            <a:off x="8897112" y="1975103"/>
            <a:ext cx="219456" cy="182880"/>
          </a:xfrm>
          <a:prstGeom prst="rect">
            <a:avLst/>
          </a:prstGeom>
          <a:noFill/>
        </p:spPr>
        <p:txBody>
          <a:bodyPr wrap="square" anchor="ctr">
            <a:spAutoFit/>
          </a:bodyPr>
          <a:lstStyle/>
          <a:p>
            <a:pPr algn="ctr"/>
            <a:r>
              <a:rPr sz="1200" b="1">
                <a:solidFill>
                  <a:srgbClr val="245DBC"/>
                </a:solidFill>
                <a:latin typeface="Aptos"/>
              </a:rPr>
              <a:t>↓</a:t>
            </a:r>
          </a:p>
        </p:txBody>
      </p:sp>
      <p:sp>
        <p:nvSpPr>
          <p:cNvPr id="26" name="Rounded Rectangle 25"/>
          <p:cNvSpPr/>
          <p:nvPr/>
        </p:nvSpPr>
        <p:spPr>
          <a:xfrm>
            <a:off x="6812280" y="2066543"/>
            <a:ext cx="4389120" cy="201167"/>
          </a:xfrm>
          <a:prstGeom prst="roundRect">
            <a:avLst/>
          </a:prstGeom>
          <a:solidFill>
            <a:srgbClr val="FFFF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85432" y="2084831"/>
            <a:ext cx="4242816" cy="164591"/>
          </a:xfrm>
          <a:prstGeom prst="rect">
            <a:avLst/>
          </a:prstGeom>
          <a:noFill/>
        </p:spPr>
        <p:txBody>
          <a:bodyPr wrap="square" anchor="ctr">
            <a:spAutoFit/>
          </a:bodyPr>
          <a:lstStyle/>
          <a:p>
            <a:pPr algn="ctr"/>
            <a:r>
              <a:rPr sz="1150" b="1">
                <a:solidFill>
                  <a:srgbClr val="245DBC"/>
                </a:solidFill>
                <a:latin typeface="Aptos"/>
              </a:rPr>
              <a:t>OrderRepository (DAO 역할)</a:t>
            </a:r>
          </a:p>
        </p:txBody>
      </p:sp>
      <p:sp>
        <p:nvSpPr>
          <p:cNvPr id="28" name="TextBox 27"/>
          <p:cNvSpPr txBox="1"/>
          <p:nvPr/>
        </p:nvSpPr>
        <p:spPr>
          <a:xfrm>
            <a:off x="8897112" y="2249423"/>
            <a:ext cx="219456" cy="182880"/>
          </a:xfrm>
          <a:prstGeom prst="rect">
            <a:avLst/>
          </a:prstGeom>
          <a:noFill/>
        </p:spPr>
        <p:txBody>
          <a:bodyPr wrap="square" anchor="ctr">
            <a:spAutoFit/>
          </a:bodyPr>
          <a:lstStyle/>
          <a:p>
            <a:pPr algn="ctr"/>
            <a:r>
              <a:rPr sz="1200" b="1">
                <a:solidFill>
                  <a:srgbClr val="245DBC"/>
                </a:solidFill>
                <a:latin typeface="Aptos"/>
              </a:rPr>
              <a:t>↓</a:t>
            </a:r>
          </a:p>
        </p:txBody>
      </p:sp>
      <p:sp>
        <p:nvSpPr>
          <p:cNvPr id="29" name="Rounded Rectangle 28"/>
          <p:cNvSpPr/>
          <p:nvPr/>
        </p:nvSpPr>
        <p:spPr>
          <a:xfrm>
            <a:off x="6812280" y="2340863"/>
            <a:ext cx="4389120" cy="201167"/>
          </a:xfrm>
          <a:prstGeom prst="roundRect">
            <a:avLst/>
          </a:prstGeom>
          <a:solidFill>
            <a:srgbClr val="FFFF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85432" y="2359151"/>
            <a:ext cx="4242816" cy="164591"/>
          </a:xfrm>
          <a:prstGeom prst="rect">
            <a:avLst/>
          </a:prstGeom>
          <a:noFill/>
        </p:spPr>
        <p:txBody>
          <a:bodyPr wrap="square" anchor="ctr">
            <a:spAutoFit/>
          </a:bodyPr>
          <a:lstStyle/>
          <a:p>
            <a:pPr algn="ctr"/>
            <a:r>
              <a:rPr sz="1150" b="1">
                <a:solidFill>
                  <a:srgbClr val="245DBC"/>
                </a:solidFill>
                <a:latin typeface="Aptos"/>
              </a:rPr>
              <a:t>JDBC / ConnectionManager</a:t>
            </a:r>
          </a:p>
        </p:txBody>
      </p:sp>
      <p:sp>
        <p:nvSpPr>
          <p:cNvPr id="31" name="TextBox 30"/>
          <p:cNvSpPr txBox="1"/>
          <p:nvPr/>
        </p:nvSpPr>
        <p:spPr>
          <a:xfrm>
            <a:off x="8897112" y="2523743"/>
            <a:ext cx="219456" cy="182880"/>
          </a:xfrm>
          <a:prstGeom prst="rect">
            <a:avLst/>
          </a:prstGeom>
          <a:noFill/>
        </p:spPr>
        <p:txBody>
          <a:bodyPr wrap="square" anchor="ctr">
            <a:spAutoFit/>
          </a:bodyPr>
          <a:lstStyle/>
          <a:p>
            <a:pPr algn="ctr"/>
            <a:r>
              <a:rPr sz="1200" b="1">
                <a:solidFill>
                  <a:srgbClr val="245DBC"/>
                </a:solidFill>
                <a:latin typeface="Aptos"/>
              </a:rPr>
              <a:t>↓</a:t>
            </a:r>
          </a:p>
        </p:txBody>
      </p:sp>
      <p:sp>
        <p:nvSpPr>
          <p:cNvPr id="32" name="Rounded Rectangle 31"/>
          <p:cNvSpPr/>
          <p:nvPr/>
        </p:nvSpPr>
        <p:spPr>
          <a:xfrm>
            <a:off x="6812280" y="2615183"/>
            <a:ext cx="4389120" cy="201167"/>
          </a:xfrm>
          <a:prstGeom prst="roundRect">
            <a:avLst/>
          </a:prstGeom>
          <a:solidFill>
            <a:srgbClr val="EFF8F1"/>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85432" y="2633471"/>
            <a:ext cx="4242816" cy="164591"/>
          </a:xfrm>
          <a:prstGeom prst="rect">
            <a:avLst/>
          </a:prstGeom>
          <a:noFill/>
        </p:spPr>
        <p:txBody>
          <a:bodyPr wrap="square" anchor="ctr">
            <a:spAutoFit/>
          </a:bodyPr>
          <a:lstStyle/>
          <a:p>
            <a:pPr algn="ctr"/>
            <a:r>
              <a:rPr sz="1150" b="1">
                <a:solidFill>
                  <a:srgbClr val="245DBC"/>
                </a:solidFill>
                <a:latin typeface="Aptos"/>
              </a:rPr>
              <a:t>MySQL</a:t>
            </a:r>
          </a:p>
        </p:txBody>
      </p:sp>
      <p:sp>
        <p:nvSpPr>
          <p:cNvPr id="34" name="Rounded Rectangle 33"/>
          <p:cNvSpPr/>
          <p:nvPr/>
        </p:nvSpPr>
        <p:spPr>
          <a:xfrm>
            <a:off x="822960" y="3136392"/>
            <a:ext cx="10561320" cy="493776"/>
          </a:xfrm>
          <a:prstGeom prst="roundRect">
            <a:avLst/>
          </a:prstGeom>
          <a:solidFill>
            <a:srgbClr val="EEF4FF"/>
          </a:solidFill>
          <a:ln>
            <a:solidFill>
              <a:srgbClr val="245D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3172968"/>
            <a:ext cx="10287000" cy="411480"/>
          </a:xfrm>
          <a:prstGeom prst="rect">
            <a:avLst/>
          </a:prstGeom>
          <a:noFill/>
        </p:spPr>
        <p:txBody>
          <a:bodyPr wrap="square" anchor="ctr">
            <a:spAutoFit/>
          </a:bodyPr>
          <a:lstStyle/>
          <a:p>
            <a:pPr algn="ctr"/>
            <a:r>
              <a:rPr sz="1450" b="1">
                <a:solidFill>
                  <a:srgbClr val="072A58"/>
                </a:solidFill>
                <a:latin typeface="Aptos"/>
              </a:rPr>
              <a:t>핵심: CafeOrderApplication과 Service 흐름은 유지하고, 저장 계층(OrderRepository) 내부만 교체</a:t>
            </a:r>
          </a:p>
        </p:txBody>
      </p:sp>
      <p:sp>
        <p:nvSpPr>
          <p:cNvPr id="36" name="Rectangle 35"/>
          <p:cNvSpPr/>
          <p:nvPr/>
        </p:nvSpPr>
        <p:spPr>
          <a:xfrm>
            <a:off x="1508760" y="3767328"/>
            <a:ext cx="1417320" cy="329184"/>
          </a:xfrm>
          <a:prstGeom prst="rect">
            <a:avLst/>
          </a:prstGeom>
          <a:solidFill>
            <a:srgbClr val="072A58"/>
          </a:solidFill>
          <a:ln>
            <a:solidFill>
              <a:srgbClr val="072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508760" y="3767328"/>
            <a:ext cx="1417320" cy="329184"/>
          </a:xfrm>
          <a:prstGeom prst="rect">
            <a:avLst/>
          </a:prstGeom>
          <a:noFill/>
        </p:spPr>
        <p:txBody>
          <a:bodyPr wrap="square" anchor="ctr">
            <a:spAutoFit/>
          </a:bodyPr>
          <a:lstStyle/>
          <a:p>
            <a:pPr algn="ctr"/>
            <a:r>
              <a:rPr sz="1150" b="1">
                <a:solidFill>
                  <a:srgbClr val="FFFFFF"/>
                </a:solidFill>
                <a:latin typeface="Aptos"/>
              </a:rPr>
              <a:t>구분</a:t>
            </a:r>
          </a:p>
        </p:txBody>
      </p:sp>
      <p:sp>
        <p:nvSpPr>
          <p:cNvPr id="38" name="Rectangle 37"/>
          <p:cNvSpPr/>
          <p:nvPr/>
        </p:nvSpPr>
        <p:spPr>
          <a:xfrm>
            <a:off x="2926080" y="3767328"/>
            <a:ext cx="3520440" cy="329184"/>
          </a:xfrm>
          <a:prstGeom prst="rect">
            <a:avLst/>
          </a:prstGeom>
          <a:solidFill>
            <a:srgbClr val="072A58"/>
          </a:solidFill>
          <a:ln>
            <a:solidFill>
              <a:srgbClr val="072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26080" y="3767328"/>
            <a:ext cx="3520440" cy="329184"/>
          </a:xfrm>
          <a:prstGeom prst="rect">
            <a:avLst/>
          </a:prstGeom>
          <a:noFill/>
        </p:spPr>
        <p:txBody>
          <a:bodyPr wrap="square" anchor="ctr">
            <a:spAutoFit/>
          </a:bodyPr>
          <a:lstStyle/>
          <a:p>
            <a:pPr algn="ctr"/>
            <a:r>
              <a:rPr sz="1150" b="1">
                <a:solidFill>
                  <a:srgbClr val="FFFFFF"/>
                </a:solidFill>
                <a:latin typeface="Aptos"/>
              </a:rPr>
              <a:t>기존 구조</a:t>
            </a:r>
          </a:p>
        </p:txBody>
      </p:sp>
      <p:sp>
        <p:nvSpPr>
          <p:cNvPr id="40" name="Rectangle 39"/>
          <p:cNvSpPr/>
          <p:nvPr/>
        </p:nvSpPr>
        <p:spPr>
          <a:xfrm>
            <a:off x="6537960" y="3767328"/>
            <a:ext cx="6400800" cy="329184"/>
          </a:xfrm>
          <a:prstGeom prst="rect">
            <a:avLst/>
          </a:prstGeom>
          <a:solidFill>
            <a:srgbClr val="072A58"/>
          </a:solidFill>
          <a:ln>
            <a:solidFill>
              <a:srgbClr val="072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37960" y="3767328"/>
            <a:ext cx="6400800" cy="329184"/>
          </a:xfrm>
          <a:prstGeom prst="rect">
            <a:avLst/>
          </a:prstGeom>
          <a:noFill/>
        </p:spPr>
        <p:txBody>
          <a:bodyPr wrap="square" anchor="ctr">
            <a:spAutoFit/>
          </a:bodyPr>
          <a:lstStyle/>
          <a:p>
            <a:pPr algn="ctr"/>
            <a:r>
              <a:rPr sz="1150" b="1">
                <a:solidFill>
                  <a:srgbClr val="FFFFFF"/>
                </a:solidFill>
                <a:latin typeface="Aptos"/>
              </a:rPr>
              <a:t>변경 구조</a:t>
            </a:r>
          </a:p>
        </p:txBody>
      </p:sp>
      <p:sp>
        <p:nvSpPr>
          <p:cNvPr id="42" name="Rectangle 41"/>
          <p:cNvSpPr/>
          <p:nvPr/>
        </p:nvSpPr>
        <p:spPr>
          <a:xfrm>
            <a:off x="1508760" y="4096512"/>
            <a:ext cx="141732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554480" y="4096512"/>
            <a:ext cx="1325880" cy="288036"/>
          </a:xfrm>
          <a:prstGeom prst="rect">
            <a:avLst/>
          </a:prstGeom>
          <a:noFill/>
        </p:spPr>
        <p:txBody>
          <a:bodyPr wrap="square" anchor="ctr">
            <a:spAutoFit/>
          </a:bodyPr>
          <a:lstStyle/>
          <a:p>
            <a:pPr algn="ctr"/>
            <a:r>
              <a:rPr sz="1019" b="0">
                <a:solidFill>
                  <a:srgbClr val="191D24"/>
                </a:solidFill>
                <a:latin typeface="Aptos"/>
              </a:rPr>
              <a:t>저장 방식</a:t>
            </a:r>
          </a:p>
        </p:txBody>
      </p:sp>
      <p:sp>
        <p:nvSpPr>
          <p:cNvPr id="44" name="Rectangle 43"/>
          <p:cNvSpPr/>
          <p:nvPr/>
        </p:nvSpPr>
        <p:spPr>
          <a:xfrm>
            <a:off x="2926080" y="4096512"/>
            <a:ext cx="352044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971800" y="4096512"/>
            <a:ext cx="3429000" cy="288036"/>
          </a:xfrm>
          <a:prstGeom prst="rect">
            <a:avLst/>
          </a:prstGeom>
          <a:noFill/>
        </p:spPr>
        <p:txBody>
          <a:bodyPr wrap="square" anchor="ctr">
            <a:spAutoFit/>
          </a:bodyPr>
          <a:lstStyle/>
          <a:p>
            <a:pPr algn="ctr"/>
            <a:r>
              <a:rPr sz="1019" b="0">
                <a:solidFill>
                  <a:srgbClr val="191D24"/>
                </a:solidFill>
                <a:latin typeface="Aptos"/>
              </a:rPr>
              <a:t>ArrayList에 저장</a:t>
            </a:r>
          </a:p>
        </p:txBody>
      </p:sp>
      <p:sp>
        <p:nvSpPr>
          <p:cNvPr id="46" name="Rectangle 45"/>
          <p:cNvSpPr/>
          <p:nvPr/>
        </p:nvSpPr>
        <p:spPr>
          <a:xfrm>
            <a:off x="6537960" y="4096512"/>
            <a:ext cx="640080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83680" y="4096512"/>
            <a:ext cx="6309360" cy="288036"/>
          </a:xfrm>
          <a:prstGeom prst="rect">
            <a:avLst/>
          </a:prstGeom>
          <a:noFill/>
        </p:spPr>
        <p:txBody>
          <a:bodyPr wrap="square" anchor="ctr">
            <a:spAutoFit/>
          </a:bodyPr>
          <a:lstStyle/>
          <a:p>
            <a:pPr algn="ctr"/>
            <a:r>
              <a:rPr sz="1019" b="0">
                <a:solidFill>
                  <a:srgbClr val="191D24"/>
                </a:solidFill>
                <a:latin typeface="Aptos"/>
              </a:rPr>
              <a:t>MySQL 테이블에 저장</a:t>
            </a:r>
          </a:p>
        </p:txBody>
      </p:sp>
      <p:sp>
        <p:nvSpPr>
          <p:cNvPr id="48" name="Rectangle 47"/>
          <p:cNvSpPr/>
          <p:nvPr/>
        </p:nvSpPr>
        <p:spPr>
          <a:xfrm>
            <a:off x="1508760" y="4384548"/>
            <a:ext cx="141732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554480" y="4384548"/>
            <a:ext cx="1325880" cy="288036"/>
          </a:xfrm>
          <a:prstGeom prst="rect">
            <a:avLst/>
          </a:prstGeom>
          <a:noFill/>
        </p:spPr>
        <p:txBody>
          <a:bodyPr wrap="square" anchor="ctr">
            <a:spAutoFit/>
          </a:bodyPr>
          <a:lstStyle/>
          <a:p>
            <a:pPr algn="ctr"/>
            <a:r>
              <a:rPr sz="1019" b="0">
                <a:solidFill>
                  <a:srgbClr val="191D24"/>
                </a:solidFill>
                <a:latin typeface="Aptos"/>
              </a:rPr>
              <a:t>DB 접근</a:t>
            </a:r>
          </a:p>
        </p:txBody>
      </p:sp>
      <p:sp>
        <p:nvSpPr>
          <p:cNvPr id="50" name="Rectangle 49"/>
          <p:cNvSpPr/>
          <p:nvPr/>
        </p:nvSpPr>
        <p:spPr>
          <a:xfrm>
            <a:off x="2926080" y="4384548"/>
            <a:ext cx="352044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971800" y="4384548"/>
            <a:ext cx="3429000" cy="288036"/>
          </a:xfrm>
          <a:prstGeom prst="rect">
            <a:avLst/>
          </a:prstGeom>
          <a:noFill/>
        </p:spPr>
        <p:txBody>
          <a:bodyPr wrap="square" anchor="ctr">
            <a:spAutoFit/>
          </a:bodyPr>
          <a:lstStyle/>
          <a:p>
            <a:pPr algn="ctr"/>
            <a:r>
              <a:rPr sz="1019" b="0">
                <a:solidFill>
                  <a:srgbClr val="191D24"/>
                </a:solidFill>
                <a:latin typeface="Aptos"/>
              </a:rPr>
              <a:t>없음</a:t>
            </a:r>
          </a:p>
        </p:txBody>
      </p:sp>
      <p:sp>
        <p:nvSpPr>
          <p:cNvPr id="52" name="Rectangle 51"/>
          <p:cNvSpPr/>
          <p:nvPr/>
        </p:nvSpPr>
        <p:spPr>
          <a:xfrm>
            <a:off x="6537960" y="4384548"/>
            <a:ext cx="640080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583680" y="4384548"/>
            <a:ext cx="6309360" cy="288036"/>
          </a:xfrm>
          <a:prstGeom prst="rect">
            <a:avLst/>
          </a:prstGeom>
          <a:noFill/>
        </p:spPr>
        <p:txBody>
          <a:bodyPr wrap="square" anchor="ctr">
            <a:spAutoFit/>
          </a:bodyPr>
          <a:lstStyle/>
          <a:p>
            <a:pPr algn="ctr"/>
            <a:r>
              <a:rPr sz="1019" b="0">
                <a:solidFill>
                  <a:srgbClr val="191D24"/>
                </a:solidFill>
                <a:latin typeface="Aptos"/>
              </a:rPr>
              <a:t>JDBC 사용</a:t>
            </a:r>
          </a:p>
        </p:txBody>
      </p:sp>
      <p:sp>
        <p:nvSpPr>
          <p:cNvPr id="54" name="Rectangle 53"/>
          <p:cNvSpPr/>
          <p:nvPr/>
        </p:nvSpPr>
        <p:spPr>
          <a:xfrm>
            <a:off x="1508760" y="4672584"/>
            <a:ext cx="141732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54480" y="4672584"/>
            <a:ext cx="1325880" cy="288036"/>
          </a:xfrm>
          <a:prstGeom prst="rect">
            <a:avLst/>
          </a:prstGeom>
          <a:noFill/>
        </p:spPr>
        <p:txBody>
          <a:bodyPr wrap="square" anchor="ctr">
            <a:spAutoFit/>
          </a:bodyPr>
          <a:lstStyle/>
          <a:p>
            <a:pPr algn="ctr"/>
            <a:r>
              <a:rPr sz="1019" b="0">
                <a:solidFill>
                  <a:srgbClr val="191D24"/>
                </a:solidFill>
                <a:latin typeface="Aptos"/>
              </a:rPr>
              <a:t>저장 담당</a:t>
            </a:r>
          </a:p>
        </p:txBody>
      </p:sp>
      <p:sp>
        <p:nvSpPr>
          <p:cNvPr id="56" name="Rectangle 55"/>
          <p:cNvSpPr/>
          <p:nvPr/>
        </p:nvSpPr>
        <p:spPr>
          <a:xfrm>
            <a:off x="2926080" y="4672584"/>
            <a:ext cx="352044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71800" y="4672584"/>
            <a:ext cx="3429000" cy="288036"/>
          </a:xfrm>
          <a:prstGeom prst="rect">
            <a:avLst/>
          </a:prstGeom>
          <a:noFill/>
        </p:spPr>
        <p:txBody>
          <a:bodyPr wrap="square" anchor="ctr">
            <a:spAutoFit/>
          </a:bodyPr>
          <a:lstStyle/>
          <a:p>
            <a:pPr algn="ctr"/>
            <a:r>
              <a:rPr sz="1019" b="0">
                <a:solidFill>
                  <a:srgbClr val="191D24"/>
                </a:solidFill>
                <a:latin typeface="Aptos"/>
              </a:rPr>
              <a:t>OrderRepository</a:t>
            </a:r>
          </a:p>
        </p:txBody>
      </p:sp>
      <p:sp>
        <p:nvSpPr>
          <p:cNvPr id="58" name="Rectangle 57"/>
          <p:cNvSpPr/>
          <p:nvPr/>
        </p:nvSpPr>
        <p:spPr>
          <a:xfrm>
            <a:off x="6537960" y="4672584"/>
            <a:ext cx="640080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583680" y="4672584"/>
            <a:ext cx="6309360" cy="288036"/>
          </a:xfrm>
          <a:prstGeom prst="rect">
            <a:avLst/>
          </a:prstGeom>
          <a:noFill/>
        </p:spPr>
        <p:txBody>
          <a:bodyPr wrap="square" anchor="ctr">
            <a:spAutoFit/>
          </a:bodyPr>
          <a:lstStyle/>
          <a:p>
            <a:pPr algn="ctr"/>
            <a:r>
              <a:rPr sz="1019" b="0">
                <a:solidFill>
                  <a:srgbClr val="191D24"/>
                </a:solidFill>
                <a:latin typeface="Aptos"/>
              </a:rPr>
              <a:t>OrderRepository가 DAO 역할 수행</a:t>
            </a:r>
          </a:p>
        </p:txBody>
      </p:sp>
      <p:sp>
        <p:nvSpPr>
          <p:cNvPr id="60" name="Rectangle 59"/>
          <p:cNvSpPr/>
          <p:nvPr/>
        </p:nvSpPr>
        <p:spPr>
          <a:xfrm>
            <a:off x="1508760" y="4960620"/>
            <a:ext cx="141732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554480" y="4960620"/>
            <a:ext cx="1325880" cy="288036"/>
          </a:xfrm>
          <a:prstGeom prst="rect">
            <a:avLst/>
          </a:prstGeom>
          <a:noFill/>
        </p:spPr>
        <p:txBody>
          <a:bodyPr wrap="square" anchor="ctr">
            <a:spAutoFit/>
          </a:bodyPr>
          <a:lstStyle/>
          <a:p>
            <a:pPr algn="ctr"/>
            <a:r>
              <a:rPr sz="1019" b="0">
                <a:solidFill>
                  <a:srgbClr val="191D24"/>
                </a:solidFill>
                <a:latin typeface="Aptos"/>
              </a:rPr>
              <a:t>주문 등록</a:t>
            </a:r>
          </a:p>
        </p:txBody>
      </p:sp>
      <p:sp>
        <p:nvSpPr>
          <p:cNvPr id="62" name="Rectangle 61"/>
          <p:cNvSpPr/>
          <p:nvPr/>
        </p:nvSpPr>
        <p:spPr>
          <a:xfrm>
            <a:off x="2926080" y="4960620"/>
            <a:ext cx="352044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971800" y="4960620"/>
            <a:ext cx="3429000" cy="288036"/>
          </a:xfrm>
          <a:prstGeom prst="rect">
            <a:avLst/>
          </a:prstGeom>
          <a:noFill/>
        </p:spPr>
        <p:txBody>
          <a:bodyPr wrap="square" anchor="ctr">
            <a:spAutoFit/>
          </a:bodyPr>
          <a:lstStyle/>
          <a:p>
            <a:pPr algn="ctr"/>
            <a:r>
              <a:rPr sz="1019" b="0">
                <a:solidFill>
                  <a:srgbClr val="191D24"/>
                </a:solidFill>
                <a:latin typeface="Aptos"/>
              </a:rPr>
              <a:t>메모리에만 저장</a:t>
            </a:r>
          </a:p>
        </p:txBody>
      </p:sp>
      <p:sp>
        <p:nvSpPr>
          <p:cNvPr id="64" name="Rectangle 63"/>
          <p:cNvSpPr/>
          <p:nvPr/>
        </p:nvSpPr>
        <p:spPr>
          <a:xfrm>
            <a:off x="6537960" y="4960620"/>
            <a:ext cx="640080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583680" y="4960620"/>
            <a:ext cx="6309360" cy="288036"/>
          </a:xfrm>
          <a:prstGeom prst="rect">
            <a:avLst/>
          </a:prstGeom>
          <a:noFill/>
        </p:spPr>
        <p:txBody>
          <a:bodyPr wrap="square" anchor="ctr">
            <a:spAutoFit/>
          </a:bodyPr>
          <a:lstStyle/>
          <a:p>
            <a:pPr algn="ctr"/>
            <a:r>
              <a:rPr sz="1019" b="0">
                <a:solidFill>
                  <a:srgbClr val="191D24"/>
                </a:solidFill>
                <a:latin typeface="Aptos"/>
              </a:rPr>
              <a:t>cafe_order, order_item에 INSERT</a:t>
            </a:r>
          </a:p>
        </p:txBody>
      </p:sp>
      <p:sp>
        <p:nvSpPr>
          <p:cNvPr id="66" name="Rectangle 65"/>
          <p:cNvSpPr/>
          <p:nvPr/>
        </p:nvSpPr>
        <p:spPr>
          <a:xfrm>
            <a:off x="1508760" y="5248656"/>
            <a:ext cx="141732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554480" y="5248656"/>
            <a:ext cx="1325880" cy="288036"/>
          </a:xfrm>
          <a:prstGeom prst="rect">
            <a:avLst/>
          </a:prstGeom>
          <a:noFill/>
        </p:spPr>
        <p:txBody>
          <a:bodyPr wrap="square" anchor="ctr">
            <a:spAutoFit/>
          </a:bodyPr>
          <a:lstStyle/>
          <a:p>
            <a:pPr algn="ctr"/>
            <a:r>
              <a:rPr sz="1019" b="0">
                <a:solidFill>
                  <a:srgbClr val="191D24"/>
                </a:solidFill>
                <a:latin typeface="Aptos"/>
              </a:rPr>
              <a:t>주문 조회</a:t>
            </a:r>
          </a:p>
        </p:txBody>
      </p:sp>
      <p:sp>
        <p:nvSpPr>
          <p:cNvPr id="68" name="Rectangle 67"/>
          <p:cNvSpPr/>
          <p:nvPr/>
        </p:nvSpPr>
        <p:spPr>
          <a:xfrm>
            <a:off x="2926080" y="5248656"/>
            <a:ext cx="352044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971800" y="5248656"/>
            <a:ext cx="3429000" cy="288036"/>
          </a:xfrm>
          <a:prstGeom prst="rect">
            <a:avLst/>
          </a:prstGeom>
          <a:noFill/>
        </p:spPr>
        <p:txBody>
          <a:bodyPr wrap="square" anchor="ctr">
            <a:spAutoFit/>
          </a:bodyPr>
          <a:lstStyle/>
          <a:p>
            <a:pPr algn="ctr"/>
            <a:r>
              <a:rPr sz="1019" b="0">
                <a:solidFill>
                  <a:srgbClr val="191D24"/>
                </a:solidFill>
                <a:latin typeface="Aptos"/>
              </a:rPr>
              <a:t>ArrayList에서 검색</a:t>
            </a:r>
          </a:p>
        </p:txBody>
      </p:sp>
      <p:sp>
        <p:nvSpPr>
          <p:cNvPr id="70" name="Rectangle 69"/>
          <p:cNvSpPr/>
          <p:nvPr/>
        </p:nvSpPr>
        <p:spPr>
          <a:xfrm>
            <a:off x="6537960" y="5248656"/>
            <a:ext cx="640080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583680" y="5248656"/>
            <a:ext cx="6309360" cy="288036"/>
          </a:xfrm>
          <a:prstGeom prst="rect">
            <a:avLst/>
          </a:prstGeom>
          <a:noFill/>
        </p:spPr>
        <p:txBody>
          <a:bodyPr wrap="square" anchor="ctr">
            <a:spAutoFit/>
          </a:bodyPr>
          <a:lstStyle/>
          <a:p>
            <a:pPr algn="ctr"/>
            <a:r>
              <a:rPr sz="1019" b="0">
                <a:solidFill>
                  <a:srgbClr val="191D24"/>
                </a:solidFill>
                <a:latin typeface="Aptos"/>
              </a:rPr>
              <a:t>MySQL에서 SELECT</a:t>
            </a:r>
          </a:p>
        </p:txBody>
      </p:sp>
      <p:sp>
        <p:nvSpPr>
          <p:cNvPr id="72" name="Rectangle 71"/>
          <p:cNvSpPr/>
          <p:nvPr/>
        </p:nvSpPr>
        <p:spPr>
          <a:xfrm>
            <a:off x="1508760" y="5536692"/>
            <a:ext cx="141732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554480" y="5536692"/>
            <a:ext cx="1325880" cy="288036"/>
          </a:xfrm>
          <a:prstGeom prst="rect">
            <a:avLst/>
          </a:prstGeom>
          <a:noFill/>
        </p:spPr>
        <p:txBody>
          <a:bodyPr wrap="square" anchor="ctr">
            <a:spAutoFit/>
          </a:bodyPr>
          <a:lstStyle/>
          <a:p>
            <a:pPr algn="ctr"/>
            <a:r>
              <a:rPr sz="1019" b="0">
                <a:solidFill>
                  <a:srgbClr val="191D24"/>
                </a:solidFill>
                <a:latin typeface="Aptos"/>
              </a:rPr>
              <a:t>주문 수정</a:t>
            </a:r>
          </a:p>
        </p:txBody>
      </p:sp>
      <p:sp>
        <p:nvSpPr>
          <p:cNvPr id="74" name="Rectangle 73"/>
          <p:cNvSpPr/>
          <p:nvPr/>
        </p:nvSpPr>
        <p:spPr>
          <a:xfrm>
            <a:off x="2926080" y="5536692"/>
            <a:ext cx="352044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971800" y="5536692"/>
            <a:ext cx="3429000" cy="288036"/>
          </a:xfrm>
          <a:prstGeom prst="rect">
            <a:avLst/>
          </a:prstGeom>
          <a:noFill/>
        </p:spPr>
        <p:txBody>
          <a:bodyPr wrap="square" anchor="ctr">
            <a:spAutoFit/>
          </a:bodyPr>
          <a:lstStyle/>
          <a:p>
            <a:pPr algn="ctr"/>
            <a:r>
              <a:rPr sz="1019" b="0">
                <a:solidFill>
                  <a:srgbClr val="191D24"/>
                </a:solidFill>
                <a:latin typeface="Aptos"/>
              </a:rPr>
              <a:t>객체 값만 변경</a:t>
            </a:r>
          </a:p>
        </p:txBody>
      </p:sp>
      <p:sp>
        <p:nvSpPr>
          <p:cNvPr id="76" name="Rectangle 75"/>
          <p:cNvSpPr/>
          <p:nvPr/>
        </p:nvSpPr>
        <p:spPr>
          <a:xfrm>
            <a:off x="6537960" y="5536692"/>
            <a:ext cx="640080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583680" y="5536692"/>
            <a:ext cx="6309360" cy="288036"/>
          </a:xfrm>
          <a:prstGeom prst="rect">
            <a:avLst/>
          </a:prstGeom>
          <a:noFill/>
        </p:spPr>
        <p:txBody>
          <a:bodyPr wrap="square" anchor="ctr">
            <a:spAutoFit/>
          </a:bodyPr>
          <a:lstStyle/>
          <a:p>
            <a:pPr algn="ctr"/>
            <a:r>
              <a:rPr sz="1019" b="0">
                <a:solidFill>
                  <a:srgbClr val="191D24"/>
                </a:solidFill>
                <a:latin typeface="Aptos"/>
              </a:rPr>
              <a:t>MySQL에 UPDATE</a:t>
            </a:r>
          </a:p>
        </p:txBody>
      </p:sp>
      <p:sp>
        <p:nvSpPr>
          <p:cNvPr id="78" name="Rectangle 77"/>
          <p:cNvSpPr/>
          <p:nvPr/>
        </p:nvSpPr>
        <p:spPr>
          <a:xfrm>
            <a:off x="1508760" y="5824728"/>
            <a:ext cx="141732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554480" y="5824728"/>
            <a:ext cx="1325880" cy="288036"/>
          </a:xfrm>
          <a:prstGeom prst="rect">
            <a:avLst/>
          </a:prstGeom>
          <a:noFill/>
        </p:spPr>
        <p:txBody>
          <a:bodyPr wrap="square" anchor="ctr">
            <a:spAutoFit/>
          </a:bodyPr>
          <a:lstStyle/>
          <a:p>
            <a:pPr algn="ctr"/>
            <a:r>
              <a:rPr sz="1019" b="0">
                <a:solidFill>
                  <a:srgbClr val="191D24"/>
                </a:solidFill>
                <a:latin typeface="Aptos"/>
              </a:rPr>
              <a:t>주문 삭제</a:t>
            </a:r>
          </a:p>
        </p:txBody>
      </p:sp>
      <p:sp>
        <p:nvSpPr>
          <p:cNvPr id="80" name="Rectangle 79"/>
          <p:cNvSpPr/>
          <p:nvPr/>
        </p:nvSpPr>
        <p:spPr>
          <a:xfrm>
            <a:off x="2926080" y="5824728"/>
            <a:ext cx="352044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71800" y="5824728"/>
            <a:ext cx="3429000" cy="288036"/>
          </a:xfrm>
          <a:prstGeom prst="rect">
            <a:avLst/>
          </a:prstGeom>
          <a:noFill/>
        </p:spPr>
        <p:txBody>
          <a:bodyPr wrap="square" anchor="ctr">
            <a:spAutoFit/>
          </a:bodyPr>
          <a:lstStyle/>
          <a:p>
            <a:pPr algn="ctr"/>
            <a:r>
              <a:rPr sz="1019" b="0">
                <a:solidFill>
                  <a:srgbClr val="191D24"/>
                </a:solidFill>
                <a:latin typeface="Aptos"/>
              </a:rPr>
              <a:t>ArrayList에서 삭제</a:t>
            </a:r>
          </a:p>
        </p:txBody>
      </p:sp>
      <p:sp>
        <p:nvSpPr>
          <p:cNvPr id="82" name="Rectangle 81"/>
          <p:cNvSpPr/>
          <p:nvPr/>
        </p:nvSpPr>
        <p:spPr>
          <a:xfrm>
            <a:off x="6537960" y="5824728"/>
            <a:ext cx="6400800" cy="288036"/>
          </a:xfrm>
          <a:prstGeom prst="rect">
            <a:avLst/>
          </a:prstGeom>
          <a:solidFill>
            <a:srgbClr val="FFFFFF"/>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583680" y="5824728"/>
            <a:ext cx="6309360" cy="288036"/>
          </a:xfrm>
          <a:prstGeom prst="rect">
            <a:avLst/>
          </a:prstGeom>
          <a:noFill/>
        </p:spPr>
        <p:txBody>
          <a:bodyPr wrap="square" anchor="ctr">
            <a:spAutoFit/>
          </a:bodyPr>
          <a:lstStyle/>
          <a:p>
            <a:pPr algn="ctr"/>
            <a:r>
              <a:rPr sz="1019" b="0">
                <a:solidFill>
                  <a:srgbClr val="191D24"/>
                </a:solidFill>
                <a:latin typeface="Aptos"/>
              </a:rPr>
              <a:t>MySQL에서 DELETE</a:t>
            </a:r>
          </a:p>
        </p:txBody>
      </p:sp>
      <p:sp>
        <p:nvSpPr>
          <p:cNvPr id="84" name="Rectangle 83"/>
          <p:cNvSpPr/>
          <p:nvPr/>
        </p:nvSpPr>
        <p:spPr>
          <a:xfrm>
            <a:off x="1508760" y="6112764"/>
            <a:ext cx="141732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554480" y="6112764"/>
            <a:ext cx="1325880" cy="288036"/>
          </a:xfrm>
          <a:prstGeom prst="rect">
            <a:avLst/>
          </a:prstGeom>
          <a:noFill/>
        </p:spPr>
        <p:txBody>
          <a:bodyPr wrap="square" anchor="ctr">
            <a:spAutoFit/>
          </a:bodyPr>
          <a:lstStyle/>
          <a:p>
            <a:pPr algn="ctr"/>
            <a:r>
              <a:rPr sz="1019" b="0">
                <a:solidFill>
                  <a:srgbClr val="191D24"/>
                </a:solidFill>
                <a:latin typeface="Aptos"/>
              </a:rPr>
              <a:t>데이터 유지</a:t>
            </a:r>
          </a:p>
        </p:txBody>
      </p:sp>
      <p:sp>
        <p:nvSpPr>
          <p:cNvPr id="86" name="Rectangle 85"/>
          <p:cNvSpPr/>
          <p:nvPr/>
        </p:nvSpPr>
        <p:spPr>
          <a:xfrm>
            <a:off x="2926080" y="6112764"/>
            <a:ext cx="352044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971800" y="6112764"/>
            <a:ext cx="3429000" cy="288036"/>
          </a:xfrm>
          <a:prstGeom prst="rect">
            <a:avLst/>
          </a:prstGeom>
          <a:noFill/>
        </p:spPr>
        <p:txBody>
          <a:bodyPr wrap="square" anchor="ctr">
            <a:spAutoFit/>
          </a:bodyPr>
          <a:lstStyle/>
          <a:p>
            <a:pPr algn="ctr"/>
            <a:r>
              <a:rPr sz="1019" b="0">
                <a:solidFill>
                  <a:srgbClr val="191D24"/>
                </a:solidFill>
                <a:latin typeface="Aptos"/>
              </a:rPr>
              <a:t>프로그램 종료 시 사라짐</a:t>
            </a:r>
          </a:p>
        </p:txBody>
      </p:sp>
      <p:sp>
        <p:nvSpPr>
          <p:cNvPr id="88" name="Rectangle 87"/>
          <p:cNvSpPr/>
          <p:nvPr/>
        </p:nvSpPr>
        <p:spPr>
          <a:xfrm>
            <a:off x="6537960" y="6112764"/>
            <a:ext cx="6400800" cy="288036"/>
          </a:xfrm>
          <a:prstGeom prst="rect">
            <a:avLst/>
          </a:prstGeom>
          <a:solidFill>
            <a:srgbClr val="F7F9FC"/>
          </a:solidFill>
          <a:ln>
            <a:solidFill>
              <a:srgbClr val="CC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583680" y="6112764"/>
            <a:ext cx="6309360" cy="288036"/>
          </a:xfrm>
          <a:prstGeom prst="rect">
            <a:avLst/>
          </a:prstGeom>
          <a:noFill/>
        </p:spPr>
        <p:txBody>
          <a:bodyPr wrap="square" anchor="ctr">
            <a:spAutoFit/>
          </a:bodyPr>
          <a:lstStyle/>
          <a:p>
            <a:pPr algn="ctr"/>
            <a:r>
              <a:rPr sz="1019" b="0">
                <a:solidFill>
                  <a:srgbClr val="191D24"/>
                </a:solidFill>
                <a:latin typeface="Aptos"/>
              </a:rPr>
              <a:t>DB에 저장되어 유지됨</a:t>
            </a:r>
          </a:p>
        </p:txBody>
      </p:sp>
      <p:sp>
        <p:nvSpPr>
          <p:cNvPr id="90" name="Rounded Rectangle 89"/>
          <p:cNvSpPr/>
          <p:nvPr/>
        </p:nvSpPr>
        <p:spPr>
          <a:xfrm>
            <a:off x="594360" y="6382512"/>
            <a:ext cx="10972800" cy="338328"/>
          </a:xfrm>
          <a:prstGeom prst="roundRect">
            <a:avLst/>
          </a:prstGeom>
          <a:solidFill>
            <a:srgbClr val="072A58"/>
          </a:solidFill>
          <a:ln>
            <a:solidFill>
              <a:srgbClr val="072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49808" y="6391656"/>
            <a:ext cx="10652760" cy="310896"/>
          </a:xfrm>
          <a:prstGeom prst="rect">
            <a:avLst/>
          </a:prstGeom>
          <a:noFill/>
        </p:spPr>
        <p:txBody>
          <a:bodyPr wrap="square" anchor="ctr">
            <a:spAutoFit/>
          </a:bodyPr>
          <a:lstStyle/>
          <a:p>
            <a:pPr algn="ctr"/>
            <a:r>
              <a:rPr sz="1400" b="1">
                <a:solidFill>
                  <a:srgbClr val="FFFFFF"/>
                </a:solidFill>
                <a:latin typeface="Aptos"/>
              </a:rPr>
              <a:t>기존 구조를 갈아엎은 것이 아니라, 저장 계층만 ArrayList에서 JDBC/MySQL로 교체했다.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10312"/>
            <a:ext cx="11247120" cy="457200"/>
          </a:xfrm>
          <a:prstGeom prst="rect">
            <a:avLst/>
          </a:prstGeom>
          <a:noFill/>
        </p:spPr>
        <p:txBody>
          <a:bodyPr wrap="square" anchor="ctr">
            <a:spAutoFit/>
          </a:bodyPr>
          <a:lstStyle/>
          <a:p>
            <a:pPr algn="l"/>
            <a:r>
              <a:rPr sz="2650" b="1">
                <a:solidFill>
                  <a:srgbClr val="082751"/>
                </a:solidFill>
                <a:latin typeface="Aptos"/>
              </a:rPr>
              <a:t>실험 기반 확장 가정: 대기 시간이 누적되면 병목이 된다</a:t>
            </a:r>
          </a:p>
        </p:txBody>
      </p:sp>
      <p:sp>
        <p:nvSpPr>
          <p:cNvPr id="3" name="Rounded Rectangle 2"/>
          <p:cNvSpPr/>
          <p:nvPr/>
        </p:nvSpPr>
        <p:spPr>
          <a:xfrm>
            <a:off x="502920" y="749808"/>
            <a:ext cx="11155680" cy="1078992"/>
          </a:xfrm>
          <a:prstGeom prst="roundRect">
            <a:avLst/>
          </a:prstGeom>
          <a:solidFill>
            <a:srgbClr val="F7F9FC"/>
          </a:solidFill>
          <a:ln>
            <a:solidFill>
              <a:srgbClr val="CF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859536"/>
            <a:ext cx="1005840" cy="256032"/>
          </a:xfrm>
          <a:prstGeom prst="rect">
            <a:avLst/>
          </a:prstGeom>
          <a:noFill/>
        </p:spPr>
        <p:txBody>
          <a:bodyPr wrap="square" anchor="ctr">
            <a:spAutoFit/>
          </a:bodyPr>
          <a:lstStyle/>
          <a:p>
            <a:pPr algn="l"/>
            <a:r>
              <a:rPr sz="1200" b="1">
                <a:solidFill>
                  <a:srgbClr val="082751"/>
                </a:solidFill>
                <a:latin typeface="Aptos"/>
              </a:rPr>
              <a:t>실험 결과</a:t>
            </a:r>
          </a:p>
        </p:txBody>
      </p:sp>
      <p:sp>
        <p:nvSpPr>
          <p:cNvPr id="5" name="TextBox 4"/>
          <p:cNvSpPr txBox="1"/>
          <p:nvPr/>
        </p:nvSpPr>
        <p:spPr>
          <a:xfrm>
            <a:off x="1627632" y="832104"/>
            <a:ext cx="4572000" cy="292608"/>
          </a:xfrm>
          <a:prstGeom prst="rect">
            <a:avLst/>
          </a:prstGeom>
          <a:noFill/>
        </p:spPr>
        <p:txBody>
          <a:bodyPr wrap="square" anchor="ctr">
            <a:spAutoFit/>
          </a:bodyPr>
          <a:lstStyle/>
          <a:p>
            <a:pPr algn="l"/>
            <a:r>
              <a:rPr sz="1400" b="1">
                <a:solidFill>
                  <a:srgbClr val="1F242C"/>
                </a:solidFill>
                <a:latin typeface="Aptos"/>
              </a:rPr>
              <a:t>평균 total ≈ 2.2초  |  평균 waiting ≈ 2.1초</a:t>
            </a:r>
          </a:p>
        </p:txBody>
      </p:sp>
      <p:sp>
        <p:nvSpPr>
          <p:cNvPr id="6" name="Rectangle 5"/>
          <p:cNvSpPr/>
          <p:nvPr/>
        </p:nvSpPr>
        <p:spPr>
          <a:xfrm>
            <a:off x="6492240" y="932688"/>
            <a:ext cx="4100169" cy="310896"/>
          </a:xfrm>
          <a:prstGeom prst="rect">
            <a:avLst/>
          </a:prstGeom>
          <a:solidFill>
            <a:srgbClr val="2A68CB"/>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592409" y="932688"/>
            <a:ext cx="215798" cy="310896"/>
          </a:xfrm>
          <a:prstGeom prst="rect">
            <a:avLst/>
          </a:prstGeom>
          <a:solidFill>
            <a:srgbClr val="E78937"/>
          </a:solidFill>
          <a:ln>
            <a:solidFill>
              <a:srgbClr val="E78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923544"/>
            <a:ext cx="3337560" cy="310896"/>
          </a:xfrm>
          <a:prstGeom prst="rect">
            <a:avLst/>
          </a:prstGeom>
          <a:noFill/>
        </p:spPr>
        <p:txBody>
          <a:bodyPr wrap="square" anchor="ctr">
            <a:spAutoFit/>
          </a:bodyPr>
          <a:lstStyle/>
          <a:p>
            <a:pPr algn="ctr"/>
            <a:r>
              <a:rPr sz="1250" b="1">
                <a:solidFill>
                  <a:srgbClr val="FFFFFF"/>
                </a:solidFill>
                <a:latin typeface="Aptos"/>
              </a:rPr>
              <a:t>waiting 약 95%+</a:t>
            </a:r>
          </a:p>
        </p:txBody>
      </p:sp>
      <p:sp>
        <p:nvSpPr>
          <p:cNvPr id="9" name="TextBox 8"/>
          <p:cNvSpPr txBox="1"/>
          <p:nvPr/>
        </p:nvSpPr>
        <p:spPr>
          <a:xfrm>
            <a:off x="10570464" y="923544"/>
            <a:ext cx="429768" cy="310896"/>
          </a:xfrm>
          <a:prstGeom prst="rect">
            <a:avLst/>
          </a:prstGeom>
          <a:noFill/>
        </p:spPr>
        <p:txBody>
          <a:bodyPr wrap="square" anchor="ctr">
            <a:spAutoFit/>
          </a:bodyPr>
          <a:lstStyle/>
          <a:p>
            <a:pPr algn="ctr"/>
            <a:r>
              <a:rPr sz="850" b="1">
                <a:solidFill>
                  <a:srgbClr val="FFFFFF"/>
                </a:solidFill>
                <a:latin typeface="Aptos"/>
              </a:rPr>
              <a:t>약 5%</a:t>
            </a:r>
          </a:p>
        </p:txBody>
      </p:sp>
      <p:sp>
        <p:nvSpPr>
          <p:cNvPr id="10" name="TextBox 9"/>
          <p:cNvSpPr txBox="1"/>
          <p:nvPr/>
        </p:nvSpPr>
        <p:spPr>
          <a:xfrm>
            <a:off x="731520" y="1353312"/>
            <a:ext cx="10332720" cy="256032"/>
          </a:xfrm>
          <a:prstGeom prst="rect">
            <a:avLst/>
          </a:prstGeom>
          <a:noFill/>
        </p:spPr>
        <p:txBody>
          <a:bodyPr wrap="square" anchor="ctr">
            <a:spAutoFit/>
          </a:bodyPr>
          <a:lstStyle/>
          <a:p>
            <a:pPr algn="l"/>
            <a:r>
              <a:rPr sz="1220" b="1">
                <a:solidFill>
                  <a:srgbClr val="5B6573"/>
                </a:solidFill>
                <a:latin typeface="Aptos"/>
              </a:rPr>
              <a:t>전체 시간의 대부분이 CPU 계산이 아니라 DB I/O 대기 시간에 가까웠다.</a:t>
            </a:r>
          </a:p>
        </p:txBody>
      </p:sp>
      <p:sp>
        <p:nvSpPr>
          <p:cNvPr id="11" name="Rounded Rectangle 10"/>
          <p:cNvSpPr/>
          <p:nvPr/>
        </p:nvSpPr>
        <p:spPr>
          <a:xfrm>
            <a:off x="502920" y="1993392"/>
            <a:ext cx="5285232" cy="3456432"/>
          </a:xfrm>
          <a:prstGeom prst="roundRect">
            <a:avLst/>
          </a:prstGeom>
          <a:solidFill>
            <a:srgbClr val="FBF2F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0" y="1993392"/>
            <a:ext cx="5285232" cy="3456432"/>
          </a:xfrm>
          <a:prstGeom prst="roundRect">
            <a:avLst/>
          </a:prstGeom>
          <a:solidFill>
            <a:srgbClr val="EFF5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843016" y="2194560"/>
            <a:ext cx="475488" cy="2926080"/>
          </a:xfrm>
          <a:prstGeom prst="roundRect">
            <a:avLst/>
          </a:prstGeom>
          <a:solidFill>
            <a:srgbClr val="FFFFFF"/>
          </a:solidFill>
          <a:ln>
            <a:solidFill>
              <a:srgbClr val="CF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43016" y="2468880"/>
            <a:ext cx="475488" cy="2331720"/>
          </a:xfrm>
          <a:prstGeom prst="rect">
            <a:avLst/>
          </a:prstGeom>
          <a:noFill/>
        </p:spPr>
        <p:txBody>
          <a:bodyPr wrap="square" anchor="ctr">
            <a:spAutoFit/>
          </a:bodyPr>
          <a:lstStyle/>
          <a:p>
            <a:pPr algn="ctr"/>
            <a:r>
              <a:rPr sz="1050" b="1">
                <a:solidFill>
                  <a:srgbClr val="082751"/>
                </a:solidFill>
                <a:latin typeface="Aptos"/>
              </a:rPr>
              <a:t>실험</a:t>
            </a:r>
            <a:br/>
            <a:r>
              <a:rPr sz="1050" b="1">
                <a:solidFill>
                  <a:srgbClr val="082751"/>
                </a:solidFill>
                <a:latin typeface="Aptos"/>
              </a:rPr>
              <a:t>↓</a:t>
            </a:r>
            <a:br/>
            <a:r>
              <a:rPr sz="1050" b="1">
                <a:solidFill>
                  <a:srgbClr val="082751"/>
                </a:solidFill>
                <a:latin typeface="Aptos"/>
              </a:rPr>
              <a:t>확장</a:t>
            </a:r>
            <a:br/>
            <a:r>
              <a:rPr sz="1050" b="1">
                <a:solidFill>
                  <a:srgbClr val="082751"/>
                </a:solidFill>
                <a:latin typeface="Aptos"/>
              </a:rPr>
              <a:t>↓</a:t>
            </a:r>
            <a:br/>
            <a:r>
              <a:rPr sz="1050" b="1">
                <a:solidFill>
                  <a:srgbClr val="082751"/>
                </a:solidFill>
                <a:latin typeface="Aptos"/>
              </a:rPr>
              <a:t>해석</a:t>
            </a:r>
          </a:p>
        </p:txBody>
      </p:sp>
      <p:sp>
        <p:nvSpPr>
          <p:cNvPr id="15" name="TextBox 14"/>
          <p:cNvSpPr txBox="1"/>
          <p:nvPr/>
        </p:nvSpPr>
        <p:spPr>
          <a:xfrm>
            <a:off x="749808" y="2157984"/>
            <a:ext cx="4754880" cy="292608"/>
          </a:xfrm>
          <a:prstGeom prst="rect">
            <a:avLst/>
          </a:prstGeom>
          <a:noFill/>
        </p:spPr>
        <p:txBody>
          <a:bodyPr wrap="square" anchor="ctr">
            <a:spAutoFit/>
          </a:bodyPr>
          <a:lstStyle/>
          <a:p>
            <a:pPr algn="l"/>
            <a:r>
              <a:rPr sz="1800" b="1">
                <a:solidFill>
                  <a:srgbClr val="7F3130"/>
                </a:solidFill>
                <a:latin typeface="Aptos"/>
              </a:rPr>
              <a:t>Java 17 Platform Thread</a:t>
            </a:r>
          </a:p>
        </p:txBody>
      </p:sp>
      <p:sp>
        <p:nvSpPr>
          <p:cNvPr id="16" name="TextBox 15"/>
          <p:cNvSpPr txBox="1"/>
          <p:nvPr/>
        </p:nvSpPr>
        <p:spPr>
          <a:xfrm>
            <a:off x="758952" y="2496312"/>
            <a:ext cx="4709160" cy="292608"/>
          </a:xfrm>
          <a:prstGeom prst="rect">
            <a:avLst/>
          </a:prstGeom>
          <a:noFill/>
        </p:spPr>
        <p:txBody>
          <a:bodyPr wrap="square" anchor="ctr">
            <a:spAutoFit/>
          </a:bodyPr>
          <a:lstStyle/>
          <a:p>
            <a:pPr algn="l"/>
            <a:r>
              <a:rPr sz="1400" b="1">
                <a:solidFill>
                  <a:srgbClr val="1F242C"/>
                </a:solidFill>
                <a:latin typeface="Aptos"/>
              </a:rPr>
              <a:t>10,000건 ÷ 200 threads = 50묶음</a:t>
            </a:r>
          </a:p>
        </p:txBody>
      </p:sp>
      <p:sp>
        <p:nvSpPr>
          <p:cNvPr id="17" name="TextBox 16"/>
          <p:cNvSpPr txBox="1"/>
          <p:nvPr/>
        </p:nvSpPr>
        <p:spPr>
          <a:xfrm>
            <a:off x="777240" y="2816352"/>
            <a:ext cx="2743200" cy="219456"/>
          </a:xfrm>
          <a:prstGeom prst="rect">
            <a:avLst/>
          </a:prstGeom>
          <a:noFill/>
        </p:spPr>
        <p:txBody>
          <a:bodyPr wrap="square" anchor="ctr">
            <a:spAutoFit/>
          </a:bodyPr>
          <a:lstStyle/>
          <a:p>
            <a:pPr algn="l"/>
            <a:r>
              <a:rPr sz="1050" b="1">
                <a:solidFill>
                  <a:srgbClr val="B9433E"/>
                </a:solidFill>
                <a:latin typeface="Aptos"/>
              </a:rPr>
              <a:t>50개 처리 묶음이 순차적으로 대기</a:t>
            </a:r>
          </a:p>
        </p:txBody>
      </p:sp>
      <p:sp>
        <p:nvSpPr>
          <p:cNvPr id="18" name="Rectangle 17"/>
          <p:cNvSpPr/>
          <p:nvPr/>
        </p:nvSpPr>
        <p:spPr>
          <a:xfrm>
            <a:off x="804672"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108960"/>
            <a:ext cx="228600" cy="192024"/>
          </a:xfrm>
          <a:prstGeom prst="rect">
            <a:avLst/>
          </a:prstGeom>
          <a:noFill/>
        </p:spPr>
        <p:txBody>
          <a:bodyPr wrap="square" anchor="ctr">
            <a:spAutoFit/>
          </a:bodyPr>
          <a:lstStyle/>
          <a:p>
            <a:pPr algn="ctr"/>
            <a:r>
              <a:rPr sz="670" b="1">
                <a:solidFill>
                  <a:srgbClr val="7F3130"/>
                </a:solidFill>
                <a:latin typeface="Aptos"/>
              </a:rPr>
              <a:t>1</a:t>
            </a:r>
          </a:p>
        </p:txBody>
      </p:sp>
      <p:sp>
        <p:nvSpPr>
          <p:cNvPr id="20" name="Rectangle 19"/>
          <p:cNvSpPr/>
          <p:nvPr/>
        </p:nvSpPr>
        <p:spPr>
          <a:xfrm>
            <a:off x="1097280"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3108960"/>
            <a:ext cx="228600" cy="192024"/>
          </a:xfrm>
          <a:prstGeom prst="rect">
            <a:avLst/>
          </a:prstGeom>
          <a:noFill/>
        </p:spPr>
        <p:txBody>
          <a:bodyPr wrap="square" anchor="ctr">
            <a:spAutoFit/>
          </a:bodyPr>
          <a:lstStyle/>
          <a:p>
            <a:pPr algn="ctr"/>
            <a:r>
              <a:rPr sz="670" b="1">
                <a:solidFill>
                  <a:srgbClr val="7F3130"/>
                </a:solidFill>
                <a:latin typeface="Aptos"/>
              </a:rPr>
              <a:t>2</a:t>
            </a:r>
          </a:p>
        </p:txBody>
      </p:sp>
      <p:sp>
        <p:nvSpPr>
          <p:cNvPr id="22" name="Rectangle 21"/>
          <p:cNvSpPr/>
          <p:nvPr/>
        </p:nvSpPr>
        <p:spPr>
          <a:xfrm>
            <a:off x="1389888"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9888" y="3108960"/>
            <a:ext cx="228600" cy="192024"/>
          </a:xfrm>
          <a:prstGeom prst="rect">
            <a:avLst/>
          </a:prstGeom>
          <a:noFill/>
        </p:spPr>
        <p:txBody>
          <a:bodyPr wrap="square" anchor="ctr">
            <a:spAutoFit/>
          </a:bodyPr>
          <a:lstStyle/>
          <a:p>
            <a:pPr algn="ctr"/>
            <a:r>
              <a:rPr sz="670" b="1">
                <a:solidFill>
                  <a:srgbClr val="7F3130"/>
                </a:solidFill>
                <a:latin typeface="Aptos"/>
              </a:rPr>
              <a:t>3</a:t>
            </a:r>
          </a:p>
        </p:txBody>
      </p:sp>
      <p:sp>
        <p:nvSpPr>
          <p:cNvPr id="24" name="Rectangle 23"/>
          <p:cNvSpPr/>
          <p:nvPr/>
        </p:nvSpPr>
        <p:spPr>
          <a:xfrm>
            <a:off x="1682495"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82495" y="3108960"/>
            <a:ext cx="228600" cy="192024"/>
          </a:xfrm>
          <a:prstGeom prst="rect">
            <a:avLst/>
          </a:prstGeom>
          <a:noFill/>
        </p:spPr>
        <p:txBody>
          <a:bodyPr wrap="square" anchor="ctr">
            <a:spAutoFit/>
          </a:bodyPr>
          <a:lstStyle/>
          <a:p>
            <a:pPr algn="ctr"/>
            <a:r>
              <a:rPr sz="670" b="1">
                <a:solidFill>
                  <a:srgbClr val="7F3130"/>
                </a:solidFill>
                <a:latin typeface="Aptos"/>
              </a:rPr>
              <a:t>4</a:t>
            </a:r>
          </a:p>
        </p:txBody>
      </p:sp>
      <p:sp>
        <p:nvSpPr>
          <p:cNvPr id="26" name="Rectangle 25"/>
          <p:cNvSpPr/>
          <p:nvPr/>
        </p:nvSpPr>
        <p:spPr>
          <a:xfrm>
            <a:off x="1975104"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75104" y="3108960"/>
            <a:ext cx="228600" cy="192024"/>
          </a:xfrm>
          <a:prstGeom prst="rect">
            <a:avLst/>
          </a:prstGeom>
          <a:noFill/>
        </p:spPr>
        <p:txBody>
          <a:bodyPr wrap="square" anchor="ctr">
            <a:spAutoFit/>
          </a:bodyPr>
          <a:lstStyle/>
          <a:p>
            <a:pPr algn="ctr"/>
            <a:r>
              <a:rPr sz="670" b="1">
                <a:solidFill>
                  <a:srgbClr val="7F3130"/>
                </a:solidFill>
                <a:latin typeface="Aptos"/>
              </a:rPr>
              <a:t>5</a:t>
            </a:r>
          </a:p>
        </p:txBody>
      </p:sp>
      <p:sp>
        <p:nvSpPr>
          <p:cNvPr id="28" name="Rectangle 27"/>
          <p:cNvSpPr/>
          <p:nvPr/>
        </p:nvSpPr>
        <p:spPr>
          <a:xfrm>
            <a:off x="2267712"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67712" y="3108960"/>
            <a:ext cx="228600" cy="192024"/>
          </a:xfrm>
          <a:prstGeom prst="rect">
            <a:avLst/>
          </a:prstGeom>
          <a:noFill/>
        </p:spPr>
        <p:txBody>
          <a:bodyPr wrap="square" anchor="ctr">
            <a:spAutoFit/>
          </a:bodyPr>
          <a:lstStyle/>
          <a:p>
            <a:pPr algn="ctr"/>
            <a:r>
              <a:rPr sz="670" b="1">
                <a:solidFill>
                  <a:srgbClr val="7F3130"/>
                </a:solidFill>
                <a:latin typeface="Aptos"/>
              </a:rPr>
              <a:t>6</a:t>
            </a:r>
          </a:p>
        </p:txBody>
      </p:sp>
      <p:sp>
        <p:nvSpPr>
          <p:cNvPr id="30" name="Rectangle 29"/>
          <p:cNvSpPr/>
          <p:nvPr/>
        </p:nvSpPr>
        <p:spPr>
          <a:xfrm>
            <a:off x="2560320"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60320" y="3108960"/>
            <a:ext cx="228600" cy="192024"/>
          </a:xfrm>
          <a:prstGeom prst="rect">
            <a:avLst/>
          </a:prstGeom>
          <a:noFill/>
        </p:spPr>
        <p:txBody>
          <a:bodyPr wrap="square" anchor="ctr">
            <a:spAutoFit/>
          </a:bodyPr>
          <a:lstStyle/>
          <a:p>
            <a:pPr algn="ctr"/>
            <a:r>
              <a:rPr sz="670" b="1">
                <a:solidFill>
                  <a:srgbClr val="7F3130"/>
                </a:solidFill>
                <a:latin typeface="Aptos"/>
              </a:rPr>
              <a:t>7</a:t>
            </a:r>
          </a:p>
        </p:txBody>
      </p:sp>
      <p:sp>
        <p:nvSpPr>
          <p:cNvPr id="32" name="Rectangle 31"/>
          <p:cNvSpPr/>
          <p:nvPr/>
        </p:nvSpPr>
        <p:spPr>
          <a:xfrm>
            <a:off x="2852928"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852928" y="3108960"/>
            <a:ext cx="228600" cy="192024"/>
          </a:xfrm>
          <a:prstGeom prst="rect">
            <a:avLst/>
          </a:prstGeom>
          <a:noFill/>
        </p:spPr>
        <p:txBody>
          <a:bodyPr wrap="square" anchor="ctr">
            <a:spAutoFit/>
          </a:bodyPr>
          <a:lstStyle/>
          <a:p>
            <a:pPr algn="ctr"/>
            <a:r>
              <a:rPr sz="670" b="1">
                <a:solidFill>
                  <a:srgbClr val="7F3130"/>
                </a:solidFill>
                <a:latin typeface="Aptos"/>
              </a:rPr>
              <a:t>8</a:t>
            </a:r>
          </a:p>
        </p:txBody>
      </p:sp>
      <p:sp>
        <p:nvSpPr>
          <p:cNvPr id="34" name="Rectangle 33"/>
          <p:cNvSpPr/>
          <p:nvPr/>
        </p:nvSpPr>
        <p:spPr>
          <a:xfrm>
            <a:off x="3145536"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3108960"/>
            <a:ext cx="228600" cy="192024"/>
          </a:xfrm>
          <a:prstGeom prst="rect">
            <a:avLst/>
          </a:prstGeom>
          <a:noFill/>
        </p:spPr>
        <p:txBody>
          <a:bodyPr wrap="square" anchor="ctr">
            <a:spAutoFit/>
          </a:bodyPr>
          <a:lstStyle/>
          <a:p>
            <a:pPr algn="ctr"/>
            <a:r>
              <a:rPr sz="670" b="1">
                <a:solidFill>
                  <a:srgbClr val="7F3130"/>
                </a:solidFill>
                <a:latin typeface="Aptos"/>
              </a:rPr>
              <a:t>9</a:t>
            </a:r>
          </a:p>
        </p:txBody>
      </p:sp>
      <p:sp>
        <p:nvSpPr>
          <p:cNvPr id="36" name="Rectangle 35"/>
          <p:cNvSpPr/>
          <p:nvPr/>
        </p:nvSpPr>
        <p:spPr>
          <a:xfrm>
            <a:off x="3438144" y="3108960"/>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38144" y="3108960"/>
            <a:ext cx="228600" cy="192024"/>
          </a:xfrm>
          <a:prstGeom prst="rect">
            <a:avLst/>
          </a:prstGeom>
          <a:noFill/>
        </p:spPr>
        <p:txBody>
          <a:bodyPr wrap="square" anchor="ctr">
            <a:spAutoFit/>
          </a:bodyPr>
          <a:lstStyle/>
          <a:p>
            <a:pPr algn="ctr"/>
            <a:r>
              <a:rPr sz="670" b="1">
                <a:solidFill>
                  <a:srgbClr val="7F3130"/>
                </a:solidFill>
                <a:latin typeface="Aptos"/>
              </a:rPr>
              <a:t>10</a:t>
            </a:r>
          </a:p>
        </p:txBody>
      </p:sp>
      <p:sp>
        <p:nvSpPr>
          <p:cNvPr id="38" name="Rectangle 37"/>
          <p:cNvSpPr/>
          <p:nvPr/>
        </p:nvSpPr>
        <p:spPr>
          <a:xfrm>
            <a:off x="804672"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4672" y="3392424"/>
            <a:ext cx="228600" cy="192024"/>
          </a:xfrm>
          <a:prstGeom prst="rect">
            <a:avLst/>
          </a:prstGeom>
          <a:noFill/>
        </p:spPr>
        <p:txBody>
          <a:bodyPr wrap="square" anchor="ctr">
            <a:spAutoFit/>
          </a:bodyPr>
          <a:lstStyle/>
          <a:p>
            <a:pPr algn="ctr"/>
            <a:r>
              <a:rPr sz="670" b="1">
                <a:solidFill>
                  <a:srgbClr val="7F3130"/>
                </a:solidFill>
                <a:latin typeface="Aptos"/>
              </a:rPr>
              <a:t>11</a:t>
            </a:r>
          </a:p>
        </p:txBody>
      </p:sp>
      <p:sp>
        <p:nvSpPr>
          <p:cNvPr id="40" name="Rectangle 39"/>
          <p:cNvSpPr/>
          <p:nvPr/>
        </p:nvSpPr>
        <p:spPr>
          <a:xfrm>
            <a:off x="1097280"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97280" y="3392424"/>
            <a:ext cx="228600" cy="192024"/>
          </a:xfrm>
          <a:prstGeom prst="rect">
            <a:avLst/>
          </a:prstGeom>
          <a:noFill/>
        </p:spPr>
        <p:txBody>
          <a:bodyPr wrap="square" anchor="ctr">
            <a:spAutoFit/>
          </a:bodyPr>
          <a:lstStyle/>
          <a:p>
            <a:pPr algn="ctr"/>
            <a:r>
              <a:rPr sz="670" b="1">
                <a:solidFill>
                  <a:srgbClr val="7F3130"/>
                </a:solidFill>
                <a:latin typeface="Aptos"/>
              </a:rPr>
              <a:t>12</a:t>
            </a:r>
          </a:p>
        </p:txBody>
      </p:sp>
      <p:sp>
        <p:nvSpPr>
          <p:cNvPr id="42" name="Rectangle 41"/>
          <p:cNvSpPr/>
          <p:nvPr/>
        </p:nvSpPr>
        <p:spPr>
          <a:xfrm>
            <a:off x="1389888"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89888" y="3392424"/>
            <a:ext cx="228600" cy="192024"/>
          </a:xfrm>
          <a:prstGeom prst="rect">
            <a:avLst/>
          </a:prstGeom>
          <a:noFill/>
        </p:spPr>
        <p:txBody>
          <a:bodyPr wrap="square" anchor="ctr">
            <a:spAutoFit/>
          </a:bodyPr>
          <a:lstStyle/>
          <a:p>
            <a:pPr algn="ctr"/>
            <a:r>
              <a:rPr sz="670" b="1">
                <a:solidFill>
                  <a:srgbClr val="7F3130"/>
                </a:solidFill>
                <a:latin typeface="Aptos"/>
              </a:rPr>
              <a:t>13</a:t>
            </a:r>
          </a:p>
        </p:txBody>
      </p:sp>
      <p:sp>
        <p:nvSpPr>
          <p:cNvPr id="44" name="Rectangle 43"/>
          <p:cNvSpPr/>
          <p:nvPr/>
        </p:nvSpPr>
        <p:spPr>
          <a:xfrm>
            <a:off x="1682495"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682495" y="3392424"/>
            <a:ext cx="228600" cy="192024"/>
          </a:xfrm>
          <a:prstGeom prst="rect">
            <a:avLst/>
          </a:prstGeom>
          <a:noFill/>
        </p:spPr>
        <p:txBody>
          <a:bodyPr wrap="square" anchor="ctr">
            <a:spAutoFit/>
          </a:bodyPr>
          <a:lstStyle/>
          <a:p>
            <a:pPr algn="ctr"/>
            <a:r>
              <a:rPr sz="670" b="1">
                <a:solidFill>
                  <a:srgbClr val="7F3130"/>
                </a:solidFill>
                <a:latin typeface="Aptos"/>
              </a:rPr>
              <a:t>14</a:t>
            </a:r>
          </a:p>
        </p:txBody>
      </p:sp>
      <p:sp>
        <p:nvSpPr>
          <p:cNvPr id="46" name="Rectangle 45"/>
          <p:cNvSpPr/>
          <p:nvPr/>
        </p:nvSpPr>
        <p:spPr>
          <a:xfrm>
            <a:off x="1975104"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975104" y="3392424"/>
            <a:ext cx="228600" cy="192024"/>
          </a:xfrm>
          <a:prstGeom prst="rect">
            <a:avLst/>
          </a:prstGeom>
          <a:noFill/>
        </p:spPr>
        <p:txBody>
          <a:bodyPr wrap="square" anchor="ctr">
            <a:spAutoFit/>
          </a:bodyPr>
          <a:lstStyle/>
          <a:p>
            <a:pPr algn="ctr"/>
            <a:r>
              <a:rPr sz="670" b="1">
                <a:solidFill>
                  <a:srgbClr val="7F3130"/>
                </a:solidFill>
                <a:latin typeface="Aptos"/>
              </a:rPr>
              <a:t>15</a:t>
            </a:r>
          </a:p>
        </p:txBody>
      </p:sp>
      <p:sp>
        <p:nvSpPr>
          <p:cNvPr id="48" name="Rectangle 47"/>
          <p:cNvSpPr/>
          <p:nvPr/>
        </p:nvSpPr>
        <p:spPr>
          <a:xfrm>
            <a:off x="2267712"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267712" y="3392424"/>
            <a:ext cx="228600" cy="192024"/>
          </a:xfrm>
          <a:prstGeom prst="rect">
            <a:avLst/>
          </a:prstGeom>
          <a:noFill/>
        </p:spPr>
        <p:txBody>
          <a:bodyPr wrap="square" anchor="ctr">
            <a:spAutoFit/>
          </a:bodyPr>
          <a:lstStyle/>
          <a:p>
            <a:pPr algn="ctr"/>
            <a:r>
              <a:rPr sz="670" b="1">
                <a:solidFill>
                  <a:srgbClr val="7F3130"/>
                </a:solidFill>
                <a:latin typeface="Aptos"/>
              </a:rPr>
              <a:t>16</a:t>
            </a:r>
          </a:p>
        </p:txBody>
      </p:sp>
      <p:sp>
        <p:nvSpPr>
          <p:cNvPr id="50" name="Rectangle 49"/>
          <p:cNvSpPr/>
          <p:nvPr/>
        </p:nvSpPr>
        <p:spPr>
          <a:xfrm>
            <a:off x="2560320"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60320" y="3392424"/>
            <a:ext cx="228600" cy="192024"/>
          </a:xfrm>
          <a:prstGeom prst="rect">
            <a:avLst/>
          </a:prstGeom>
          <a:noFill/>
        </p:spPr>
        <p:txBody>
          <a:bodyPr wrap="square" anchor="ctr">
            <a:spAutoFit/>
          </a:bodyPr>
          <a:lstStyle/>
          <a:p>
            <a:pPr algn="ctr"/>
            <a:r>
              <a:rPr sz="670" b="1">
                <a:solidFill>
                  <a:srgbClr val="7F3130"/>
                </a:solidFill>
                <a:latin typeface="Aptos"/>
              </a:rPr>
              <a:t>17</a:t>
            </a:r>
          </a:p>
        </p:txBody>
      </p:sp>
      <p:sp>
        <p:nvSpPr>
          <p:cNvPr id="52" name="Rectangle 51"/>
          <p:cNvSpPr/>
          <p:nvPr/>
        </p:nvSpPr>
        <p:spPr>
          <a:xfrm>
            <a:off x="2852928"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852928" y="3392424"/>
            <a:ext cx="228600" cy="192024"/>
          </a:xfrm>
          <a:prstGeom prst="rect">
            <a:avLst/>
          </a:prstGeom>
          <a:noFill/>
        </p:spPr>
        <p:txBody>
          <a:bodyPr wrap="square" anchor="ctr">
            <a:spAutoFit/>
          </a:bodyPr>
          <a:lstStyle/>
          <a:p>
            <a:pPr algn="ctr"/>
            <a:r>
              <a:rPr sz="670" b="1">
                <a:solidFill>
                  <a:srgbClr val="7F3130"/>
                </a:solidFill>
                <a:latin typeface="Aptos"/>
              </a:rPr>
              <a:t>18</a:t>
            </a:r>
          </a:p>
        </p:txBody>
      </p:sp>
      <p:sp>
        <p:nvSpPr>
          <p:cNvPr id="54" name="Rectangle 53"/>
          <p:cNvSpPr/>
          <p:nvPr/>
        </p:nvSpPr>
        <p:spPr>
          <a:xfrm>
            <a:off x="3145536"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145536" y="3392424"/>
            <a:ext cx="228600" cy="192024"/>
          </a:xfrm>
          <a:prstGeom prst="rect">
            <a:avLst/>
          </a:prstGeom>
          <a:noFill/>
        </p:spPr>
        <p:txBody>
          <a:bodyPr wrap="square" anchor="ctr">
            <a:spAutoFit/>
          </a:bodyPr>
          <a:lstStyle/>
          <a:p>
            <a:pPr algn="ctr"/>
            <a:r>
              <a:rPr sz="670" b="1">
                <a:solidFill>
                  <a:srgbClr val="7F3130"/>
                </a:solidFill>
                <a:latin typeface="Aptos"/>
              </a:rPr>
              <a:t>19</a:t>
            </a:r>
          </a:p>
        </p:txBody>
      </p:sp>
      <p:sp>
        <p:nvSpPr>
          <p:cNvPr id="56" name="Rectangle 55"/>
          <p:cNvSpPr/>
          <p:nvPr/>
        </p:nvSpPr>
        <p:spPr>
          <a:xfrm>
            <a:off x="3438144" y="3392424"/>
            <a:ext cx="228600" cy="192024"/>
          </a:xfrm>
          <a:prstGeom prst="rect">
            <a:avLst/>
          </a:prstGeom>
          <a:solidFill>
            <a:srgbClr val="E8D2D1"/>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438144" y="3392424"/>
            <a:ext cx="228600" cy="192024"/>
          </a:xfrm>
          <a:prstGeom prst="rect">
            <a:avLst/>
          </a:prstGeom>
          <a:noFill/>
        </p:spPr>
        <p:txBody>
          <a:bodyPr wrap="square" anchor="ctr">
            <a:spAutoFit/>
          </a:bodyPr>
          <a:lstStyle/>
          <a:p>
            <a:pPr algn="ctr"/>
            <a:r>
              <a:rPr sz="670" b="1">
                <a:solidFill>
                  <a:srgbClr val="7F3130"/>
                </a:solidFill>
                <a:latin typeface="Aptos"/>
              </a:rPr>
              <a:t>20</a:t>
            </a:r>
          </a:p>
        </p:txBody>
      </p:sp>
      <p:sp>
        <p:nvSpPr>
          <p:cNvPr id="58" name="TextBox 57"/>
          <p:cNvSpPr txBox="1"/>
          <p:nvPr/>
        </p:nvSpPr>
        <p:spPr>
          <a:xfrm>
            <a:off x="3794760" y="3227832"/>
            <a:ext cx="640080" cy="228600"/>
          </a:xfrm>
          <a:prstGeom prst="rect">
            <a:avLst/>
          </a:prstGeom>
          <a:noFill/>
        </p:spPr>
        <p:txBody>
          <a:bodyPr wrap="square" anchor="ctr">
            <a:spAutoFit/>
          </a:bodyPr>
          <a:lstStyle/>
          <a:p>
            <a:pPr algn="l"/>
            <a:r>
              <a:rPr sz="1000" b="1">
                <a:solidFill>
                  <a:srgbClr val="B9433E"/>
                </a:solidFill>
                <a:latin typeface="Aptos"/>
              </a:rPr>
              <a:t>… 50</a:t>
            </a:r>
          </a:p>
        </p:txBody>
      </p:sp>
      <p:cxnSp>
        <p:nvCxnSpPr>
          <p:cNvPr id="59" name="Connector 58"/>
          <p:cNvCxnSpPr/>
          <p:nvPr/>
        </p:nvCxnSpPr>
        <p:spPr>
          <a:xfrm>
            <a:off x="4407408" y="3310128"/>
            <a:ext cx="347472" cy="0"/>
          </a:xfrm>
          <a:prstGeom prst="line">
            <a:avLst/>
          </a:prstGeom>
          <a:ln w="25400">
            <a:solidFill>
              <a:srgbClr val="B9433E"/>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4736592" y="2962656"/>
            <a:ext cx="621792" cy="713232"/>
          </a:xfrm>
          <a:prstGeom prst="roundRect">
            <a:avLst/>
          </a:prstGeom>
          <a:solidFill>
            <a:srgbClr val="FFFFFF"/>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36592" y="3017520"/>
            <a:ext cx="621792" cy="585216"/>
          </a:xfrm>
          <a:prstGeom prst="rect">
            <a:avLst/>
          </a:prstGeom>
          <a:noFill/>
        </p:spPr>
        <p:txBody>
          <a:bodyPr wrap="square" anchor="ctr">
            <a:spAutoFit/>
          </a:bodyPr>
          <a:lstStyle/>
          <a:p>
            <a:pPr algn="ctr"/>
            <a:r>
              <a:rPr sz="1100" b="1">
                <a:solidFill>
                  <a:srgbClr val="082751"/>
                </a:solidFill>
                <a:latin typeface="Aptos"/>
              </a:rPr>
              <a:t>DB/</a:t>
            </a:r>
            <a:br/>
            <a:r>
              <a:rPr sz="1100" b="1">
                <a:solidFill>
                  <a:srgbClr val="082751"/>
                </a:solidFill>
                <a:latin typeface="Aptos"/>
              </a:rPr>
              <a:t>API</a:t>
            </a:r>
          </a:p>
        </p:txBody>
      </p:sp>
      <p:sp>
        <p:nvSpPr>
          <p:cNvPr id="62" name="TextBox 61"/>
          <p:cNvSpPr txBox="1"/>
          <p:nvPr/>
        </p:nvSpPr>
        <p:spPr>
          <a:xfrm>
            <a:off x="795528" y="3968496"/>
            <a:ext cx="1965960" cy="256032"/>
          </a:xfrm>
          <a:prstGeom prst="rect">
            <a:avLst/>
          </a:prstGeom>
          <a:noFill/>
        </p:spPr>
        <p:txBody>
          <a:bodyPr wrap="square" anchor="ctr">
            <a:spAutoFit/>
          </a:bodyPr>
          <a:lstStyle/>
          <a:p>
            <a:pPr algn="l"/>
            <a:r>
              <a:rPr sz="1300" b="1">
                <a:solidFill>
                  <a:srgbClr val="1F242C"/>
                </a:solidFill>
                <a:latin typeface="Aptos"/>
              </a:rPr>
              <a:t>50묶음 × 2.2초</a:t>
            </a:r>
          </a:p>
        </p:txBody>
      </p:sp>
      <p:sp>
        <p:nvSpPr>
          <p:cNvPr id="63" name="TextBox 62"/>
          <p:cNvSpPr txBox="1"/>
          <p:nvPr/>
        </p:nvSpPr>
        <p:spPr>
          <a:xfrm>
            <a:off x="2761488" y="3968496"/>
            <a:ext cx="320040" cy="256032"/>
          </a:xfrm>
          <a:prstGeom prst="rect">
            <a:avLst/>
          </a:prstGeom>
          <a:noFill/>
        </p:spPr>
        <p:txBody>
          <a:bodyPr wrap="square" anchor="ctr">
            <a:spAutoFit/>
          </a:bodyPr>
          <a:lstStyle/>
          <a:p>
            <a:pPr algn="ctr"/>
            <a:r>
              <a:rPr sz="1400" b="1">
                <a:solidFill>
                  <a:srgbClr val="B9433E"/>
                </a:solidFill>
                <a:latin typeface="Aptos"/>
              </a:rPr>
              <a:t>≈</a:t>
            </a:r>
          </a:p>
        </p:txBody>
      </p:sp>
      <p:sp>
        <p:nvSpPr>
          <p:cNvPr id="64" name="TextBox 63"/>
          <p:cNvSpPr txBox="1"/>
          <p:nvPr/>
        </p:nvSpPr>
        <p:spPr>
          <a:xfrm>
            <a:off x="3063240" y="3813048"/>
            <a:ext cx="2148840" cy="502920"/>
          </a:xfrm>
          <a:prstGeom prst="rect">
            <a:avLst/>
          </a:prstGeom>
          <a:noFill/>
        </p:spPr>
        <p:txBody>
          <a:bodyPr wrap="square" anchor="ctr">
            <a:spAutoFit/>
          </a:bodyPr>
          <a:lstStyle/>
          <a:p>
            <a:pPr algn="ctr"/>
            <a:r>
              <a:rPr sz="2500" b="1">
                <a:solidFill>
                  <a:srgbClr val="B9433E"/>
                </a:solidFill>
                <a:latin typeface="Aptos"/>
              </a:rPr>
              <a:t>약 110초</a:t>
            </a:r>
          </a:p>
        </p:txBody>
      </p:sp>
      <p:sp>
        <p:nvSpPr>
          <p:cNvPr id="65" name="TextBox 64"/>
          <p:cNvSpPr txBox="1"/>
          <p:nvPr/>
        </p:nvSpPr>
        <p:spPr>
          <a:xfrm>
            <a:off x="3063240" y="4279392"/>
            <a:ext cx="2148840" cy="228600"/>
          </a:xfrm>
          <a:prstGeom prst="rect">
            <a:avLst/>
          </a:prstGeom>
          <a:noFill/>
        </p:spPr>
        <p:txBody>
          <a:bodyPr wrap="square" anchor="ctr">
            <a:spAutoFit/>
          </a:bodyPr>
          <a:lstStyle/>
          <a:p>
            <a:pPr algn="ctr"/>
            <a:r>
              <a:rPr sz="1150" b="1">
                <a:solidFill>
                  <a:srgbClr val="7F3130"/>
                </a:solidFill>
                <a:latin typeface="Aptos"/>
              </a:rPr>
              <a:t>병목 흐름</a:t>
            </a:r>
          </a:p>
        </p:txBody>
      </p:sp>
      <p:sp>
        <p:nvSpPr>
          <p:cNvPr id="66" name="Rounded Rectangle 65"/>
          <p:cNvSpPr/>
          <p:nvPr/>
        </p:nvSpPr>
        <p:spPr>
          <a:xfrm>
            <a:off x="786384" y="4700016"/>
            <a:ext cx="4709160" cy="484632"/>
          </a:xfrm>
          <a:prstGeom prst="roundRect">
            <a:avLst/>
          </a:prstGeom>
          <a:solidFill>
            <a:srgbClr val="FFFFFF"/>
          </a:solidFill>
          <a:ln>
            <a:solidFill>
              <a:srgbClr val="B9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14400" y="4745736"/>
            <a:ext cx="4443984" cy="384048"/>
          </a:xfrm>
          <a:prstGeom prst="rect">
            <a:avLst/>
          </a:prstGeom>
          <a:noFill/>
        </p:spPr>
        <p:txBody>
          <a:bodyPr wrap="square" anchor="ctr">
            <a:spAutoFit/>
          </a:bodyPr>
          <a:lstStyle/>
          <a:p>
            <a:pPr algn="ctr"/>
            <a:r>
              <a:rPr sz="1120" b="1">
                <a:solidFill>
                  <a:srgbClr val="7F3130"/>
                </a:solidFill>
                <a:latin typeface="Aptos"/>
              </a:rPr>
              <a:t>대기 시간이 묶음마다 누적 → 플랫폼 스레드 점유 부담 증가</a:t>
            </a:r>
          </a:p>
        </p:txBody>
      </p:sp>
      <p:sp>
        <p:nvSpPr>
          <p:cNvPr id="68" name="TextBox 67"/>
          <p:cNvSpPr txBox="1"/>
          <p:nvPr/>
        </p:nvSpPr>
        <p:spPr>
          <a:xfrm>
            <a:off x="6656832" y="2157984"/>
            <a:ext cx="4709160" cy="292608"/>
          </a:xfrm>
          <a:prstGeom prst="rect">
            <a:avLst/>
          </a:prstGeom>
          <a:noFill/>
        </p:spPr>
        <p:txBody>
          <a:bodyPr wrap="square" anchor="ctr">
            <a:spAutoFit/>
          </a:bodyPr>
          <a:lstStyle/>
          <a:p>
            <a:pPr algn="l"/>
            <a:r>
              <a:rPr sz="1800" b="1">
                <a:solidFill>
                  <a:srgbClr val="082751"/>
                </a:solidFill>
                <a:latin typeface="Aptos"/>
              </a:rPr>
              <a:t>Java 21 Virtual Thread</a:t>
            </a:r>
          </a:p>
        </p:txBody>
      </p:sp>
      <p:sp>
        <p:nvSpPr>
          <p:cNvPr id="69" name="TextBox 68"/>
          <p:cNvSpPr txBox="1"/>
          <p:nvPr/>
        </p:nvSpPr>
        <p:spPr>
          <a:xfrm>
            <a:off x="6656832" y="2496312"/>
            <a:ext cx="4663440" cy="274320"/>
          </a:xfrm>
          <a:prstGeom prst="rect">
            <a:avLst/>
          </a:prstGeom>
          <a:noFill/>
        </p:spPr>
        <p:txBody>
          <a:bodyPr wrap="square" anchor="ctr">
            <a:spAutoFit/>
          </a:bodyPr>
          <a:lstStyle/>
          <a:p>
            <a:pPr algn="l"/>
            <a:r>
              <a:rPr sz="1230" b="1">
                <a:solidFill>
                  <a:srgbClr val="1F242C"/>
                </a:solidFill>
                <a:latin typeface="Aptos"/>
              </a:rPr>
              <a:t>10,000개의 가벼운 요청 작업을 Virtual Thread로 표현</a:t>
            </a:r>
          </a:p>
        </p:txBody>
      </p:sp>
      <p:sp>
        <p:nvSpPr>
          <p:cNvPr id="70" name="Rectangle 69"/>
          <p:cNvSpPr/>
          <p:nvPr/>
        </p:nvSpPr>
        <p:spPr>
          <a:xfrm>
            <a:off x="6711696"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711696"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72" name="Rectangle 71"/>
          <p:cNvSpPr/>
          <p:nvPr/>
        </p:nvSpPr>
        <p:spPr>
          <a:xfrm>
            <a:off x="6995159"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995159"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74" name="Rectangle 73"/>
          <p:cNvSpPr/>
          <p:nvPr/>
        </p:nvSpPr>
        <p:spPr>
          <a:xfrm>
            <a:off x="7278624"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278624"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76" name="Rectangle 75"/>
          <p:cNvSpPr/>
          <p:nvPr/>
        </p:nvSpPr>
        <p:spPr>
          <a:xfrm>
            <a:off x="7562088"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562088"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78" name="Rectangle 77"/>
          <p:cNvSpPr/>
          <p:nvPr/>
        </p:nvSpPr>
        <p:spPr>
          <a:xfrm>
            <a:off x="7845552"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45552"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80" name="Rectangle 79"/>
          <p:cNvSpPr/>
          <p:nvPr/>
        </p:nvSpPr>
        <p:spPr>
          <a:xfrm>
            <a:off x="8129016"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129016"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82" name="Rectangle 81"/>
          <p:cNvSpPr/>
          <p:nvPr/>
        </p:nvSpPr>
        <p:spPr>
          <a:xfrm>
            <a:off x="8412480"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412480"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84" name="Rectangle 83"/>
          <p:cNvSpPr/>
          <p:nvPr/>
        </p:nvSpPr>
        <p:spPr>
          <a:xfrm>
            <a:off x="8695944" y="29077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695944" y="29077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86" name="Rectangle 85"/>
          <p:cNvSpPr/>
          <p:nvPr/>
        </p:nvSpPr>
        <p:spPr>
          <a:xfrm>
            <a:off x="6711696"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711696"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88" name="Rectangle 87"/>
          <p:cNvSpPr/>
          <p:nvPr/>
        </p:nvSpPr>
        <p:spPr>
          <a:xfrm>
            <a:off x="6995159"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995159"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90" name="Rectangle 89"/>
          <p:cNvSpPr/>
          <p:nvPr/>
        </p:nvSpPr>
        <p:spPr>
          <a:xfrm>
            <a:off x="7278624"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278624"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92" name="Rectangle 91"/>
          <p:cNvSpPr/>
          <p:nvPr/>
        </p:nvSpPr>
        <p:spPr>
          <a:xfrm>
            <a:off x="7562088"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562088"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94" name="Rectangle 93"/>
          <p:cNvSpPr/>
          <p:nvPr/>
        </p:nvSpPr>
        <p:spPr>
          <a:xfrm>
            <a:off x="7845552"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845552"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96" name="Rectangle 95"/>
          <p:cNvSpPr/>
          <p:nvPr/>
        </p:nvSpPr>
        <p:spPr>
          <a:xfrm>
            <a:off x="8129016"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129016"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98" name="Rectangle 97"/>
          <p:cNvSpPr/>
          <p:nvPr/>
        </p:nvSpPr>
        <p:spPr>
          <a:xfrm>
            <a:off x="8412480"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412480"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00" name="Rectangle 99"/>
          <p:cNvSpPr/>
          <p:nvPr/>
        </p:nvSpPr>
        <p:spPr>
          <a:xfrm>
            <a:off x="8695944" y="31363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695944" y="31363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02" name="Rectangle 101"/>
          <p:cNvSpPr/>
          <p:nvPr/>
        </p:nvSpPr>
        <p:spPr>
          <a:xfrm>
            <a:off x="6711696"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711696"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04" name="Rectangle 103"/>
          <p:cNvSpPr/>
          <p:nvPr/>
        </p:nvSpPr>
        <p:spPr>
          <a:xfrm>
            <a:off x="6995159"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995159"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06" name="Rectangle 105"/>
          <p:cNvSpPr/>
          <p:nvPr/>
        </p:nvSpPr>
        <p:spPr>
          <a:xfrm>
            <a:off x="7278624"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7278624"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08" name="Rectangle 107"/>
          <p:cNvSpPr/>
          <p:nvPr/>
        </p:nvSpPr>
        <p:spPr>
          <a:xfrm>
            <a:off x="7562088"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562088"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10" name="Rectangle 109"/>
          <p:cNvSpPr/>
          <p:nvPr/>
        </p:nvSpPr>
        <p:spPr>
          <a:xfrm>
            <a:off x="7845552"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45552"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12" name="Rectangle 111"/>
          <p:cNvSpPr/>
          <p:nvPr/>
        </p:nvSpPr>
        <p:spPr>
          <a:xfrm>
            <a:off x="8129016"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29016"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14" name="Rectangle 113"/>
          <p:cNvSpPr/>
          <p:nvPr/>
        </p:nvSpPr>
        <p:spPr>
          <a:xfrm>
            <a:off x="8412480"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412480"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16" name="Rectangle 115"/>
          <p:cNvSpPr/>
          <p:nvPr/>
        </p:nvSpPr>
        <p:spPr>
          <a:xfrm>
            <a:off x="8695944" y="3364992"/>
            <a:ext cx="210312" cy="146304"/>
          </a:xfrm>
          <a:prstGeom prst="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8695944" y="3364992"/>
            <a:ext cx="210312" cy="146304"/>
          </a:xfrm>
          <a:prstGeom prst="rect">
            <a:avLst/>
          </a:prstGeom>
          <a:noFill/>
        </p:spPr>
        <p:txBody>
          <a:bodyPr wrap="square" anchor="ctr">
            <a:spAutoFit/>
          </a:bodyPr>
          <a:lstStyle/>
          <a:p>
            <a:pPr algn="ctr"/>
            <a:r>
              <a:rPr sz="680" b="1">
                <a:solidFill>
                  <a:srgbClr val="2A68CB"/>
                </a:solidFill>
                <a:latin typeface="Aptos"/>
              </a:rPr>
              <a:t>VT</a:t>
            </a:r>
          </a:p>
        </p:txBody>
      </p:sp>
      <p:sp>
        <p:nvSpPr>
          <p:cNvPr id="118" name="TextBox 117"/>
          <p:cNvSpPr txBox="1"/>
          <p:nvPr/>
        </p:nvSpPr>
        <p:spPr>
          <a:xfrm>
            <a:off x="8915400" y="3127248"/>
            <a:ext cx="777240" cy="201168"/>
          </a:xfrm>
          <a:prstGeom prst="rect">
            <a:avLst/>
          </a:prstGeom>
          <a:noFill/>
        </p:spPr>
        <p:txBody>
          <a:bodyPr wrap="square" anchor="ctr">
            <a:spAutoFit/>
          </a:bodyPr>
          <a:lstStyle/>
          <a:p>
            <a:pPr algn="l"/>
            <a:r>
              <a:rPr sz="950" b="1">
                <a:solidFill>
                  <a:srgbClr val="2A68CB"/>
                </a:solidFill>
                <a:latin typeface="Aptos"/>
              </a:rPr>
              <a:t>… 10,000</a:t>
            </a:r>
          </a:p>
        </p:txBody>
      </p:sp>
      <p:cxnSp>
        <p:nvCxnSpPr>
          <p:cNvPr id="119" name="Connector 118"/>
          <p:cNvCxnSpPr/>
          <p:nvPr/>
        </p:nvCxnSpPr>
        <p:spPr>
          <a:xfrm>
            <a:off x="9555480" y="3191256"/>
            <a:ext cx="320040" cy="0"/>
          </a:xfrm>
          <a:prstGeom prst="line">
            <a:avLst/>
          </a:prstGeom>
          <a:ln w="25400">
            <a:solidFill>
              <a:srgbClr val="2A68CB"/>
            </a:solidFill>
          </a:ln>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9893808" y="2816352"/>
            <a:ext cx="1115568" cy="731520"/>
          </a:xfrm>
          <a:prstGeom prst="roundRect">
            <a:avLst/>
          </a:prstGeom>
          <a:solidFill>
            <a:srgbClr val="FFFFFF"/>
          </a:solidFill>
          <a:ln>
            <a:solidFill>
              <a:srgbClr val="2A68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9893808" y="2898648"/>
            <a:ext cx="1115568" cy="548640"/>
          </a:xfrm>
          <a:prstGeom prst="rect">
            <a:avLst/>
          </a:prstGeom>
          <a:noFill/>
        </p:spPr>
        <p:txBody>
          <a:bodyPr wrap="square" anchor="ctr">
            <a:spAutoFit/>
          </a:bodyPr>
          <a:lstStyle/>
          <a:p>
            <a:pPr algn="ctr"/>
            <a:r>
              <a:rPr sz="1150" b="1">
                <a:solidFill>
                  <a:srgbClr val="082751"/>
                </a:solidFill>
                <a:latin typeface="Aptos"/>
              </a:rPr>
              <a:t>JVM</a:t>
            </a:r>
            <a:br/>
            <a:r>
              <a:rPr sz="1150" b="1">
                <a:solidFill>
                  <a:srgbClr val="082751"/>
                </a:solidFill>
                <a:latin typeface="Aptos"/>
              </a:rPr>
              <a:t>Scheduler</a:t>
            </a:r>
          </a:p>
        </p:txBody>
      </p:sp>
      <p:sp>
        <p:nvSpPr>
          <p:cNvPr id="122" name="Rounded Rectangle 121"/>
          <p:cNvSpPr/>
          <p:nvPr/>
        </p:nvSpPr>
        <p:spPr>
          <a:xfrm>
            <a:off x="6711696" y="3822191"/>
            <a:ext cx="2331720" cy="603504"/>
          </a:xfrm>
          <a:prstGeom prst="roundRect">
            <a:avLst/>
          </a:prstGeom>
          <a:solidFill>
            <a:srgbClr val="FFFFFF"/>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711696" y="3831336"/>
            <a:ext cx="2331720" cy="219456"/>
          </a:xfrm>
          <a:prstGeom prst="rect">
            <a:avLst/>
          </a:prstGeom>
          <a:noFill/>
        </p:spPr>
        <p:txBody>
          <a:bodyPr wrap="square" anchor="ctr">
            <a:spAutoFit/>
          </a:bodyPr>
          <a:lstStyle/>
          <a:p>
            <a:pPr algn="ctr"/>
            <a:r>
              <a:rPr sz="1050" b="1">
                <a:solidFill>
                  <a:srgbClr val="31895B"/>
                </a:solidFill>
                <a:latin typeface="Aptos"/>
              </a:rPr>
              <a:t>Waiting Area</a:t>
            </a:r>
          </a:p>
        </p:txBody>
      </p:sp>
      <p:sp>
        <p:nvSpPr>
          <p:cNvPr id="124" name="Rectangle 123"/>
          <p:cNvSpPr/>
          <p:nvPr/>
        </p:nvSpPr>
        <p:spPr>
          <a:xfrm>
            <a:off x="689457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89457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26" name="Rectangle 125"/>
          <p:cNvSpPr/>
          <p:nvPr/>
        </p:nvSpPr>
        <p:spPr>
          <a:xfrm>
            <a:off x="716889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16889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28" name="Rectangle 127"/>
          <p:cNvSpPr/>
          <p:nvPr/>
        </p:nvSpPr>
        <p:spPr>
          <a:xfrm>
            <a:off x="744321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744321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30" name="Rectangle 129"/>
          <p:cNvSpPr/>
          <p:nvPr/>
        </p:nvSpPr>
        <p:spPr>
          <a:xfrm>
            <a:off x="771753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771753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32" name="Rectangle 131"/>
          <p:cNvSpPr/>
          <p:nvPr/>
        </p:nvSpPr>
        <p:spPr>
          <a:xfrm>
            <a:off x="799185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799185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34" name="Rectangle 133"/>
          <p:cNvSpPr/>
          <p:nvPr/>
        </p:nvSpPr>
        <p:spPr>
          <a:xfrm>
            <a:off x="8266175"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8266175"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36" name="Rectangle 135"/>
          <p:cNvSpPr/>
          <p:nvPr/>
        </p:nvSpPr>
        <p:spPr>
          <a:xfrm>
            <a:off x="8540496" y="4114800"/>
            <a:ext cx="182880" cy="128016"/>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8540496" y="4114800"/>
            <a:ext cx="182880" cy="128016"/>
          </a:xfrm>
          <a:prstGeom prst="rect">
            <a:avLst/>
          </a:prstGeom>
          <a:noFill/>
        </p:spPr>
        <p:txBody>
          <a:bodyPr wrap="square" anchor="ctr">
            <a:spAutoFit/>
          </a:bodyPr>
          <a:lstStyle/>
          <a:p>
            <a:pPr algn="ctr"/>
            <a:r>
              <a:rPr sz="620" b="1">
                <a:solidFill>
                  <a:srgbClr val="31895B"/>
                </a:solidFill>
                <a:latin typeface="Aptos"/>
              </a:rPr>
              <a:t>VT</a:t>
            </a:r>
          </a:p>
        </p:txBody>
      </p:sp>
      <p:sp>
        <p:nvSpPr>
          <p:cNvPr id="138" name="TextBox 137"/>
          <p:cNvSpPr txBox="1"/>
          <p:nvPr/>
        </p:nvSpPr>
        <p:spPr>
          <a:xfrm>
            <a:off x="9217152" y="3822191"/>
            <a:ext cx="1965960" cy="201168"/>
          </a:xfrm>
          <a:prstGeom prst="rect">
            <a:avLst/>
          </a:prstGeom>
          <a:noFill/>
        </p:spPr>
        <p:txBody>
          <a:bodyPr wrap="square" anchor="ctr">
            <a:spAutoFit/>
          </a:bodyPr>
          <a:lstStyle/>
          <a:p>
            <a:pPr algn="ctr"/>
            <a:r>
              <a:rPr sz="1050" b="1">
                <a:solidFill>
                  <a:srgbClr val="082751"/>
                </a:solidFill>
                <a:latin typeface="Aptos"/>
              </a:rPr>
              <a:t>Carrier Threads</a:t>
            </a:r>
          </a:p>
        </p:txBody>
      </p:sp>
      <p:sp>
        <p:nvSpPr>
          <p:cNvPr id="139" name="Rectangle 138"/>
          <p:cNvSpPr/>
          <p:nvPr/>
        </p:nvSpPr>
        <p:spPr>
          <a:xfrm>
            <a:off x="9253728" y="4105656"/>
            <a:ext cx="365760" cy="256032"/>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9253728" y="4105656"/>
            <a:ext cx="365760" cy="256032"/>
          </a:xfrm>
          <a:prstGeom prst="rect">
            <a:avLst/>
          </a:prstGeom>
          <a:noFill/>
        </p:spPr>
        <p:txBody>
          <a:bodyPr wrap="square" anchor="ctr">
            <a:spAutoFit/>
          </a:bodyPr>
          <a:lstStyle/>
          <a:p>
            <a:pPr algn="ctr"/>
            <a:r>
              <a:rPr sz="850" b="1">
                <a:solidFill>
                  <a:srgbClr val="31895B"/>
                </a:solidFill>
                <a:latin typeface="Aptos"/>
              </a:rPr>
              <a:t>C1</a:t>
            </a:r>
          </a:p>
        </p:txBody>
      </p:sp>
      <p:sp>
        <p:nvSpPr>
          <p:cNvPr id="141" name="Rectangle 140"/>
          <p:cNvSpPr/>
          <p:nvPr/>
        </p:nvSpPr>
        <p:spPr>
          <a:xfrm>
            <a:off x="9701784" y="4105656"/>
            <a:ext cx="365760" cy="256032"/>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701784" y="4105656"/>
            <a:ext cx="365760" cy="256032"/>
          </a:xfrm>
          <a:prstGeom prst="rect">
            <a:avLst/>
          </a:prstGeom>
          <a:noFill/>
        </p:spPr>
        <p:txBody>
          <a:bodyPr wrap="square" anchor="ctr">
            <a:spAutoFit/>
          </a:bodyPr>
          <a:lstStyle/>
          <a:p>
            <a:pPr algn="ctr"/>
            <a:r>
              <a:rPr sz="850" b="1">
                <a:solidFill>
                  <a:srgbClr val="31895B"/>
                </a:solidFill>
                <a:latin typeface="Aptos"/>
              </a:rPr>
              <a:t>C2</a:t>
            </a:r>
          </a:p>
        </p:txBody>
      </p:sp>
      <p:sp>
        <p:nvSpPr>
          <p:cNvPr id="143" name="Rectangle 142"/>
          <p:cNvSpPr/>
          <p:nvPr/>
        </p:nvSpPr>
        <p:spPr>
          <a:xfrm>
            <a:off x="10149840" y="4105656"/>
            <a:ext cx="365760" cy="256032"/>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10149840" y="4105656"/>
            <a:ext cx="365760" cy="256032"/>
          </a:xfrm>
          <a:prstGeom prst="rect">
            <a:avLst/>
          </a:prstGeom>
          <a:noFill/>
        </p:spPr>
        <p:txBody>
          <a:bodyPr wrap="square" anchor="ctr">
            <a:spAutoFit/>
          </a:bodyPr>
          <a:lstStyle/>
          <a:p>
            <a:pPr algn="ctr"/>
            <a:r>
              <a:rPr sz="850" b="1">
                <a:solidFill>
                  <a:srgbClr val="31895B"/>
                </a:solidFill>
                <a:latin typeface="Aptos"/>
              </a:rPr>
              <a:t>C3</a:t>
            </a:r>
          </a:p>
        </p:txBody>
      </p:sp>
      <p:sp>
        <p:nvSpPr>
          <p:cNvPr id="145" name="Rectangle 144"/>
          <p:cNvSpPr/>
          <p:nvPr/>
        </p:nvSpPr>
        <p:spPr>
          <a:xfrm>
            <a:off x="10597896" y="4105656"/>
            <a:ext cx="365760" cy="256032"/>
          </a:xfrm>
          <a:prstGeom prst="rect">
            <a:avLst/>
          </a:prstGeom>
          <a:solidFill>
            <a:srgbClr val="EFF9F3"/>
          </a:solidFill>
          <a:ln>
            <a:solidFill>
              <a:srgbClr val="31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10597896" y="4105656"/>
            <a:ext cx="365760" cy="256032"/>
          </a:xfrm>
          <a:prstGeom prst="rect">
            <a:avLst/>
          </a:prstGeom>
          <a:noFill/>
        </p:spPr>
        <p:txBody>
          <a:bodyPr wrap="square" anchor="ctr">
            <a:spAutoFit/>
          </a:bodyPr>
          <a:lstStyle/>
          <a:p>
            <a:pPr algn="ctr"/>
            <a:r>
              <a:rPr sz="850" b="1">
                <a:solidFill>
                  <a:srgbClr val="31895B"/>
                </a:solidFill>
                <a:latin typeface="Aptos"/>
              </a:rPr>
              <a:t>C4</a:t>
            </a:r>
          </a:p>
        </p:txBody>
      </p:sp>
      <p:sp>
        <p:nvSpPr>
          <p:cNvPr id="147" name="TextBox 146"/>
          <p:cNvSpPr txBox="1"/>
          <p:nvPr/>
        </p:nvSpPr>
        <p:spPr>
          <a:xfrm>
            <a:off x="6748272" y="4590288"/>
            <a:ext cx="4526280" cy="365760"/>
          </a:xfrm>
          <a:prstGeom prst="rect">
            <a:avLst/>
          </a:prstGeom>
          <a:noFill/>
        </p:spPr>
        <p:txBody>
          <a:bodyPr wrap="square" anchor="ctr">
            <a:spAutoFit/>
          </a:bodyPr>
          <a:lstStyle/>
          <a:p>
            <a:pPr algn="ctr"/>
            <a:r>
              <a:rPr sz="2100" b="1">
                <a:solidFill>
                  <a:srgbClr val="2A68CB"/>
                </a:solidFill>
                <a:latin typeface="Aptos"/>
              </a:rPr>
              <a:t>대기 작업을 가볍게 관리</a:t>
            </a:r>
          </a:p>
        </p:txBody>
      </p:sp>
      <p:sp>
        <p:nvSpPr>
          <p:cNvPr id="148" name="TextBox 147"/>
          <p:cNvSpPr txBox="1"/>
          <p:nvPr/>
        </p:nvSpPr>
        <p:spPr>
          <a:xfrm>
            <a:off x="6748272" y="4965192"/>
            <a:ext cx="4526280" cy="219456"/>
          </a:xfrm>
          <a:prstGeom prst="rect">
            <a:avLst/>
          </a:prstGeom>
          <a:noFill/>
        </p:spPr>
        <p:txBody>
          <a:bodyPr wrap="square" anchor="ctr">
            <a:spAutoFit/>
          </a:bodyPr>
          <a:lstStyle/>
          <a:p>
            <a:pPr algn="ctr"/>
            <a:r>
              <a:rPr sz="1150" b="1">
                <a:solidFill>
                  <a:srgbClr val="31895B"/>
                </a:solidFill>
                <a:latin typeface="Aptos"/>
              </a:rPr>
              <a:t>OS 스레드 점유 부담 감소</a:t>
            </a:r>
          </a:p>
        </p:txBody>
      </p:sp>
      <p:sp>
        <p:nvSpPr>
          <p:cNvPr id="149" name="Rounded Rectangle 148"/>
          <p:cNvSpPr/>
          <p:nvPr/>
        </p:nvSpPr>
        <p:spPr>
          <a:xfrm>
            <a:off x="603504" y="5596128"/>
            <a:ext cx="10972800" cy="841248"/>
          </a:xfrm>
          <a:prstGeom prst="roundRect">
            <a:avLst/>
          </a:prstGeom>
          <a:solidFill>
            <a:srgbClr val="082751"/>
          </a:solidFill>
          <a:ln>
            <a:solidFill>
              <a:srgbClr val="0827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822960" y="5660136"/>
            <a:ext cx="10515600" cy="246888"/>
          </a:xfrm>
          <a:prstGeom prst="rect">
            <a:avLst/>
          </a:prstGeom>
          <a:noFill/>
        </p:spPr>
        <p:txBody>
          <a:bodyPr wrap="square" anchor="ctr">
            <a:spAutoFit/>
          </a:bodyPr>
          <a:lstStyle/>
          <a:p>
            <a:pPr algn="ctr"/>
            <a:r>
              <a:rPr sz="1170" b="1">
                <a:solidFill>
                  <a:srgbClr val="FFFFFF"/>
                </a:solidFill>
                <a:latin typeface="Aptos"/>
              </a:rPr>
              <a:t>실험 결과: total_time 중 대부분이 waiting_time  →  확장 가정: 대기 작업이 많을수록 플랫폼 스레드 점유 부담 ↑</a:t>
            </a:r>
          </a:p>
        </p:txBody>
      </p:sp>
      <p:sp>
        <p:nvSpPr>
          <p:cNvPr id="151" name="TextBox 150"/>
          <p:cNvSpPr txBox="1"/>
          <p:nvPr/>
        </p:nvSpPr>
        <p:spPr>
          <a:xfrm>
            <a:off x="822960" y="5925312"/>
            <a:ext cx="10515600" cy="256032"/>
          </a:xfrm>
          <a:prstGeom prst="rect">
            <a:avLst/>
          </a:prstGeom>
          <a:noFill/>
        </p:spPr>
        <p:txBody>
          <a:bodyPr wrap="square" anchor="ctr">
            <a:spAutoFit/>
          </a:bodyPr>
          <a:lstStyle/>
          <a:p>
            <a:pPr algn="ctr"/>
            <a:r>
              <a:rPr sz="1320" b="1">
                <a:solidFill>
                  <a:srgbClr val="FFFFFF"/>
                </a:solidFill>
                <a:latin typeface="Aptos"/>
              </a:rPr>
              <a:t>해석: Java 21 가상 스레드는 이런 I/O 대기 작업을 더 가볍게 관리할 수 있다.</a:t>
            </a:r>
          </a:p>
        </p:txBody>
      </p:sp>
      <p:sp>
        <p:nvSpPr>
          <p:cNvPr id="152" name="TextBox 151"/>
          <p:cNvSpPr txBox="1"/>
          <p:nvPr/>
        </p:nvSpPr>
        <p:spPr>
          <a:xfrm>
            <a:off x="713232" y="6473952"/>
            <a:ext cx="10835640" cy="182880"/>
          </a:xfrm>
          <a:prstGeom prst="rect">
            <a:avLst/>
          </a:prstGeom>
          <a:noFill/>
        </p:spPr>
        <p:txBody>
          <a:bodyPr wrap="square" anchor="ctr">
            <a:spAutoFit/>
          </a:bodyPr>
          <a:lstStyle/>
          <a:p>
            <a:pPr algn="ctr"/>
            <a:r>
              <a:rPr sz="880" b="0">
                <a:solidFill>
                  <a:srgbClr val="5B6573"/>
                </a:solidFill>
                <a:latin typeface="Aptos"/>
              </a:rPr>
              <a:t>※ 실제 성능 벤치마크가 아닌 확장 가정. DB 처리량·Connection 수·네트워크 상태에 따라 결과는 달라질 수 있으며, Java 21이 무조건 빠르다는 의미는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1076</Words>
  <Application>Microsoft Office PowerPoint</Application>
  <PresentationFormat>와이드스크린</PresentationFormat>
  <Paragraphs>131</Paragraphs>
  <Slides>8</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vt:i4>
      </vt:variant>
    </vt:vector>
  </HeadingPairs>
  <TitlesOfParts>
    <vt:vector size="12" baseType="lpstr">
      <vt:lpstr>Malgun Gothic</vt:lpstr>
      <vt:lpstr>Aptos</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21 가상 스레드</dc:title>
  <dc:subject>Java 21 Virtual Threads</dc:subject>
  <dc:creator>OpenAI</dc:creator>
  <cp:lastModifiedBy>Codelab</cp:lastModifiedBy>
  <cp:revision>1</cp:revision>
  <dcterms:created xsi:type="dcterms:W3CDTF">2026-08-25T05:07:56Z</dcterms:created>
  <dcterms:modified xsi:type="dcterms:W3CDTF">2026-08-30T07:02:53Z</dcterms:modified>
</cp:coreProperties>
</file>